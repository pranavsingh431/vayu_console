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flat. Do not read the slide. Say: this is a decision support console for municipal air quality officers, and the one thing that makes it different is that it refuses to answer when the evidence cannot support an answer. Then move on quickly, the problem slide is where the argument starts.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audience already believes the first half. Spend your time on the five questions on the right. Land this line: none of these are measurement problems, they are reasoning problems, and that is the gap the product sits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Say that evidence comes before decision structurally, not just visually: the Decision Engine can only read the Evidence Engine's output, so no rule can reach a recommendation the evidence does not carry.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seconds unless asked. The only detail worth volunteering: readings come from OpenAQ's S3 archive rather than its live API, because the two disagree about which Delhi stations have history. That is on the technical differentiation slide too.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that lands: these do not add up to 100% and that is not an oversight. The hypotheses are not mutually exclusive. On a Diwali night in stubble season, fire and traffic evidence are both genuinely present. Any chart implying shares would be a lie about what we can know.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it is the most memorable thing you will say. The key beat: the danger was not that it failed, it is that it succeeded spectacularly. Every honesty instrument we could have pointed at it, SHAP, conformal prediction, calibration curves, would have corroborated the fabrication and made it harder to detect, not easier.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first to say that only one test is finished. It is a stronger position than pretending three are. The COVID beat: traffic went to zero by government decree, which is an experiment nobody could run deliberately, and it could have failed. Had NO₂ not fallen relative to SO₂ we would have deleted the traffic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an LLM: a recommendation an officer defends in a regulatory meeting has to be reproducible, and auditability is impossible without it. Also, fluency is exactly the failure mode we are avoiding. The hard part is not producing plausible explanations, it is refusing to produce them when the evidence is absent.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live if the demo is working. The framing that lands: this is not built to convince the officer the system is right, it is built so someone can prove it wrong. An officer needs the counter-argument before someone else in the meeting supplies it, which is why contradicting evidence is never hidden.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replay point before anyone wonders about it. It reads as rigour when you say it first and as evasion when you are asked. One non-scrolling screen, designed for a control room at 2am.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not five, unless the room is technical. The OpenAQ S3 discovery and the observation-gap distinction are the ones that signal you actually handled the data rather than downloading a clean CSV.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that the right column is not built. Claiming one-click multi-city would undercut the entire honesty argument you just made two slides ago. Say the calibration line out loud, it shows you understand your own limits.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quote and stop talking. Do not add a summary after it. If there are questions, the judge FAQ in submission/judge-faq.md covers the hard ones, including why not an LLM, why not a classifier, and whether this is source apportionment.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02-console-diwali.png"/>
          <p:cNvPicPr>
            <a:picLocks noChangeAspect="1"/>
          </p:cNvPicPr>
          <p:nvPr/>
        </p:nvPicPr>
        <p:blipFill>
          <a:blip r:embed="rId2"/>
          <a:stretch>
            <a:fillRect/>
          </a:stretch>
        </p:blipFill>
        <p:spPr>
          <a:xfrm>
            <a:off x="6035040" y="1554480"/>
            <a:ext cx="5852160" cy="3657600"/>
          </a:xfrm>
          <a:prstGeom prst="rect">
            <a:avLst/>
          </a:prstGeom>
        </p:spPr>
      </p:pic>
      <p:sp>
        <p:nvSpPr>
          <p:cNvPr id="3" name="TextBox 2"/>
          <p:cNvSpPr txBox="1"/>
          <p:nvPr/>
        </p:nvSpPr>
        <p:spPr>
          <a:xfrm>
            <a:off x="777240" y="137160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ET AI HACKATHON 2.0</a:t>
            </a:r>
          </a:p>
        </p:txBody>
      </p:sp>
      <p:sp>
        <p:nvSpPr>
          <p:cNvPr id="4" name="TextBox 3"/>
          <p:cNvSpPr txBox="1"/>
          <p:nvPr/>
        </p:nvSpPr>
        <p:spPr>
          <a:xfrm>
            <a:off x="777240" y="1828800"/>
            <a:ext cx="5486400" cy="1097280"/>
          </a:xfrm>
          <a:prstGeom prst="rect">
            <a:avLst/>
          </a:prstGeom>
          <a:noFill/>
        </p:spPr>
        <p:txBody>
          <a:bodyPr wrap="square" lIns="0" rIns="0" tIns="0" bIns="0">
            <a:spAutoFit/>
          </a:bodyPr>
          <a:lstStyle/>
          <a:p>
            <a:pPr algn="l">
              <a:lnSpc>
                <a:spcPct val="125000"/>
              </a:lnSpc>
            </a:pPr>
            <a:r>
              <a:rPr sz="5400" b="1">
                <a:solidFill>
                  <a:srgbClr val="FFFFFF"/>
                </a:solidFill>
                <a:latin typeface="Helvetica Neue"/>
              </a:rPr>
              <a:t>Vayu Console</a:t>
            </a:r>
          </a:p>
        </p:txBody>
      </p:sp>
      <p:sp>
        <p:nvSpPr>
          <p:cNvPr id="5" name="TextBox 4"/>
          <p:cNvSpPr txBox="1"/>
          <p:nvPr/>
        </p:nvSpPr>
        <p:spPr>
          <a:xfrm>
            <a:off x="777240" y="3017520"/>
            <a:ext cx="5120640" cy="914400"/>
          </a:xfrm>
          <a:prstGeom prst="rect">
            <a:avLst/>
          </a:prstGeom>
          <a:noFill/>
        </p:spPr>
        <p:txBody>
          <a:bodyPr wrap="square" lIns="0" rIns="0" tIns="0" bIns="0">
            <a:spAutoFit/>
          </a:bodyPr>
          <a:lstStyle/>
          <a:p>
            <a:pPr algn="l">
              <a:lnSpc>
                <a:spcPct val="135000"/>
              </a:lnSpc>
            </a:pPr>
            <a:r>
              <a:rPr sz="2000" b="0">
                <a:solidFill>
                  <a:srgbClr val="A1A1AA"/>
                </a:solidFill>
                <a:latin typeface="Helvetica Neue"/>
              </a:rPr>
              <a:t>From pollution signals to defensible action</a:t>
            </a:r>
          </a:p>
        </p:txBody>
      </p:sp>
      <p:sp>
        <p:nvSpPr>
          <p:cNvPr id="6" name="Rectangle 5"/>
          <p:cNvSpPr/>
          <p:nvPr/>
        </p:nvSpPr>
        <p:spPr>
          <a:xfrm>
            <a:off x="777240" y="4114800"/>
            <a:ext cx="1097280" cy="25400"/>
          </a:xfrm>
          <a:prstGeom prst="rect">
            <a:avLst/>
          </a:prstGeom>
          <a:solidFill>
            <a:srgbClr val="EAB3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480560"/>
            <a:ext cx="5120640" cy="914400"/>
          </a:xfrm>
          <a:prstGeom prst="rect">
            <a:avLst/>
          </a:prstGeom>
          <a:noFill/>
        </p:spPr>
        <p:txBody>
          <a:bodyPr wrap="square" lIns="0" rIns="0" tIns="0" bIns="0">
            <a:spAutoFit/>
          </a:bodyPr>
          <a:lstStyle/>
          <a:p>
            <a:pPr algn="l">
              <a:lnSpc>
                <a:spcPct val="160000"/>
              </a:lnSpc>
            </a:pPr>
            <a:r>
              <a:rPr sz="1300" b="0">
                <a:solidFill>
                  <a:srgbClr val="71717A"/>
                </a:solidFill>
                <a:latin typeface="Helvetica Neue"/>
              </a:rPr>
              <a:t>Urban Air Quality Decision Intelligence</a:t>
            </a:r>
          </a:p>
          <a:p>
            <a:pPr algn="l">
              <a:lnSpc>
                <a:spcPct val="160000"/>
              </a:lnSpc>
            </a:pPr>
            <a:r>
              <a:rPr sz="1300" b="0">
                <a:solidFill>
                  <a:srgbClr val="71717A"/>
                </a:solidFill>
                <a:latin typeface="Helvetica Neue"/>
              </a:rPr>
              <a:t>Team: singhpranav431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THE PROBLEM</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600" b="1">
                <a:solidFill>
                  <a:srgbClr val="FFFFFF"/>
                </a:solidFill>
                <a:latin typeface="Helvetica Neue"/>
              </a:rPr>
              <a:t>AQI tells cities how bad the air is.</a:t>
            </a:r>
          </a:p>
          <a:p>
            <a:pPr algn="l">
              <a:lnSpc>
                <a:spcPct val="118000"/>
              </a:lnSpc>
            </a:pPr>
            <a:r>
              <a:rPr sz="2600" b="1">
                <a:solidFill>
                  <a:srgbClr val="FFFFFF"/>
                </a:solidFill>
                <a:latin typeface="Helvetica Neue"/>
              </a:rPr>
              <a:t>It does not tell them what action the evidence justifies.</a:t>
            </a:r>
          </a:p>
        </p:txBody>
      </p:sp>
      <p:sp>
        <p:nvSpPr>
          <p:cNvPr id="4" name="Rounded Rectangle 3"/>
          <p:cNvSpPr/>
          <p:nvPr/>
        </p:nvSpPr>
        <p:spPr>
          <a:xfrm>
            <a:off x="777240" y="2514600"/>
            <a:ext cx="3291840" cy="22860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2788920"/>
            <a:ext cx="2743200" cy="274320"/>
          </a:xfrm>
          <a:prstGeom prst="rect">
            <a:avLst/>
          </a:prstGeom>
          <a:noFill/>
        </p:spPr>
        <p:txBody>
          <a:bodyPr wrap="square" lIns="0" rIns="0" tIns="0" bIns="0">
            <a:spAutoFit/>
          </a:bodyPr>
          <a:lstStyle/>
          <a:p>
            <a:pPr algn="l">
              <a:lnSpc>
                <a:spcPct val="125000"/>
              </a:lnSpc>
            </a:pPr>
            <a:r>
              <a:rPr sz="950" b="1" spc="160">
                <a:solidFill>
                  <a:srgbClr val="71717A"/>
                </a:solidFill>
                <a:latin typeface="Helvetica Neue"/>
              </a:rPr>
              <a:t>WHAT THE DASHBOARD SAYS</a:t>
            </a:r>
          </a:p>
        </p:txBody>
      </p:sp>
      <p:sp>
        <p:nvSpPr>
          <p:cNvPr id="6" name="TextBox 5"/>
          <p:cNvSpPr txBox="1"/>
          <p:nvPr/>
        </p:nvSpPr>
        <p:spPr>
          <a:xfrm>
            <a:off x="1051560" y="3200400"/>
            <a:ext cx="2743200" cy="640080"/>
          </a:xfrm>
          <a:prstGeom prst="rect">
            <a:avLst/>
          </a:prstGeom>
          <a:noFill/>
        </p:spPr>
        <p:txBody>
          <a:bodyPr wrap="square" lIns="0" rIns="0" tIns="0" bIns="0">
            <a:spAutoFit/>
          </a:bodyPr>
          <a:lstStyle/>
          <a:p>
            <a:pPr algn="l">
              <a:lnSpc>
                <a:spcPct val="125000"/>
              </a:lnSpc>
            </a:pPr>
            <a:r>
              <a:rPr sz="3400" b="1">
                <a:solidFill>
                  <a:srgbClr val="EF4444"/>
                </a:solidFill>
                <a:latin typeface="Helvetica Neue"/>
              </a:rPr>
              <a:t>Severe</a:t>
            </a:r>
          </a:p>
        </p:txBody>
      </p:sp>
      <p:sp>
        <p:nvSpPr>
          <p:cNvPr id="7" name="TextBox 6"/>
          <p:cNvSpPr txBox="1"/>
          <p:nvPr/>
        </p:nvSpPr>
        <p:spPr>
          <a:xfrm>
            <a:off x="1051560" y="3931920"/>
            <a:ext cx="2743200" cy="365760"/>
          </a:xfrm>
          <a:prstGeom prst="rect">
            <a:avLst/>
          </a:prstGeom>
          <a:noFill/>
        </p:spPr>
        <p:txBody>
          <a:bodyPr wrap="square" lIns="0" rIns="0" tIns="0" bIns="0">
            <a:spAutoFit/>
          </a:bodyPr>
          <a:lstStyle/>
          <a:p>
            <a:pPr algn="l">
              <a:lnSpc>
                <a:spcPct val="125000"/>
              </a:lnSpc>
            </a:pPr>
            <a:r>
              <a:rPr sz="1400" b="0">
                <a:solidFill>
                  <a:srgbClr val="FFFFFF"/>
                </a:solidFill>
                <a:latin typeface="Menlo"/>
              </a:rPr>
              <a:t>1288 µg/m³ PM2.5</a:t>
            </a:r>
          </a:p>
        </p:txBody>
      </p:sp>
      <p:sp>
        <p:nvSpPr>
          <p:cNvPr id="8" name="TextBox 7"/>
          <p:cNvSpPr txBox="1"/>
          <p:nvPr/>
        </p:nvSpPr>
        <p:spPr>
          <a:xfrm>
            <a:off x="4343400" y="2788920"/>
            <a:ext cx="365760" cy="365760"/>
          </a:xfrm>
          <a:prstGeom prst="rect">
            <a:avLst/>
          </a:prstGeom>
          <a:noFill/>
        </p:spPr>
        <p:txBody>
          <a:bodyPr wrap="square" lIns="0" rIns="0" tIns="0" bIns="0">
            <a:spAutoFit/>
          </a:bodyPr>
          <a:lstStyle/>
          <a:p>
            <a:pPr algn="l">
              <a:lnSpc>
                <a:spcPct val="125000"/>
              </a:lnSpc>
            </a:pPr>
            <a:r>
              <a:rPr sz="2000" b="0">
                <a:solidFill>
                  <a:srgbClr val="52525B"/>
                </a:solidFill>
                <a:latin typeface="Helvetica Neue"/>
              </a:rPr>
              <a:t>→</a:t>
            </a:r>
          </a:p>
        </p:txBody>
      </p:sp>
      <p:sp>
        <p:nvSpPr>
          <p:cNvPr id="9" name="TextBox 8"/>
          <p:cNvSpPr txBox="1"/>
          <p:nvPr/>
        </p:nvSpPr>
        <p:spPr>
          <a:xfrm>
            <a:off x="5029200" y="2788920"/>
            <a:ext cx="5943600" cy="274320"/>
          </a:xfrm>
          <a:prstGeom prst="rect">
            <a:avLst/>
          </a:prstGeom>
          <a:noFill/>
        </p:spPr>
        <p:txBody>
          <a:bodyPr wrap="square" lIns="0" rIns="0" tIns="0" bIns="0">
            <a:spAutoFit/>
          </a:bodyPr>
          <a:lstStyle/>
          <a:p>
            <a:pPr algn="l">
              <a:lnSpc>
                <a:spcPct val="125000"/>
              </a:lnSpc>
            </a:pPr>
            <a:r>
              <a:rPr sz="950" b="1" spc="160">
                <a:solidFill>
                  <a:srgbClr val="71717A"/>
                </a:solidFill>
                <a:latin typeface="Helvetica Neue"/>
              </a:rPr>
              <a:t>WHAT THE OFFICER STILL HAS TO ANSWER</a:t>
            </a:r>
          </a:p>
        </p:txBody>
      </p:sp>
      <p:sp>
        <p:nvSpPr>
          <p:cNvPr id="10" name="TextBox 9"/>
          <p:cNvSpPr txBox="1"/>
          <p:nvPr/>
        </p:nvSpPr>
        <p:spPr>
          <a:xfrm>
            <a:off x="5029200" y="3246120"/>
            <a:ext cx="228600" cy="274320"/>
          </a:xfrm>
          <a:prstGeom prst="rect">
            <a:avLst/>
          </a:prstGeom>
          <a:noFill/>
        </p:spPr>
        <p:txBody>
          <a:bodyPr wrap="square" lIns="0" rIns="0" tIns="0" bIns="0">
            <a:spAutoFit/>
          </a:bodyPr>
          <a:lstStyle/>
          <a:p>
            <a:pPr algn="l">
              <a:lnSpc>
                <a:spcPct val="125000"/>
              </a:lnSpc>
            </a:pPr>
            <a:r>
              <a:rPr sz="1400" b="1">
                <a:solidFill>
                  <a:srgbClr val="EAB308"/>
                </a:solidFill>
                <a:latin typeface="Helvetica Neue"/>
              </a:rPr>
              <a:t>·</a:t>
            </a:r>
          </a:p>
        </p:txBody>
      </p:sp>
      <p:sp>
        <p:nvSpPr>
          <p:cNvPr id="11" name="TextBox 10"/>
          <p:cNvSpPr txBox="1"/>
          <p:nvPr/>
        </p:nvSpPr>
        <p:spPr>
          <a:xfrm>
            <a:off x="5303520" y="3246120"/>
            <a:ext cx="5852160" cy="32004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Why is this happening?</a:t>
            </a:r>
          </a:p>
        </p:txBody>
      </p:sp>
      <p:sp>
        <p:nvSpPr>
          <p:cNvPr id="12" name="TextBox 11"/>
          <p:cNvSpPr txBox="1"/>
          <p:nvPr/>
        </p:nvSpPr>
        <p:spPr>
          <a:xfrm>
            <a:off x="5029200" y="3630168"/>
            <a:ext cx="228600" cy="274320"/>
          </a:xfrm>
          <a:prstGeom prst="rect">
            <a:avLst/>
          </a:prstGeom>
          <a:noFill/>
        </p:spPr>
        <p:txBody>
          <a:bodyPr wrap="square" lIns="0" rIns="0" tIns="0" bIns="0">
            <a:spAutoFit/>
          </a:bodyPr>
          <a:lstStyle/>
          <a:p>
            <a:pPr algn="l">
              <a:lnSpc>
                <a:spcPct val="125000"/>
              </a:lnSpc>
            </a:pPr>
            <a:r>
              <a:rPr sz="1400" b="1">
                <a:solidFill>
                  <a:srgbClr val="EAB308"/>
                </a:solidFill>
                <a:latin typeface="Helvetica Neue"/>
              </a:rPr>
              <a:t>·</a:t>
            </a:r>
          </a:p>
        </p:txBody>
      </p:sp>
      <p:sp>
        <p:nvSpPr>
          <p:cNvPr id="13" name="TextBox 12"/>
          <p:cNvSpPr txBox="1"/>
          <p:nvPr/>
        </p:nvSpPr>
        <p:spPr>
          <a:xfrm>
            <a:off x="5303520" y="3630168"/>
            <a:ext cx="5852160" cy="32004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What evidence do we actually have?</a:t>
            </a:r>
          </a:p>
        </p:txBody>
      </p:sp>
      <p:sp>
        <p:nvSpPr>
          <p:cNvPr id="14" name="TextBox 13"/>
          <p:cNvSpPr txBox="1"/>
          <p:nvPr/>
        </p:nvSpPr>
        <p:spPr>
          <a:xfrm>
            <a:off x="5029200" y="4014215"/>
            <a:ext cx="228600" cy="274320"/>
          </a:xfrm>
          <a:prstGeom prst="rect">
            <a:avLst/>
          </a:prstGeom>
          <a:noFill/>
        </p:spPr>
        <p:txBody>
          <a:bodyPr wrap="square" lIns="0" rIns="0" tIns="0" bIns="0">
            <a:spAutoFit/>
          </a:bodyPr>
          <a:lstStyle/>
          <a:p>
            <a:pPr algn="l">
              <a:lnSpc>
                <a:spcPct val="125000"/>
              </a:lnSpc>
            </a:pPr>
            <a:r>
              <a:rPr sz="1400" b="1">
                <a:solidFill>
                  <a:srgbClr val="EAB308"/>
                </a:solidFill>
                <a:latin typeface="Helvetica Neue"/>
              </a:rPr>
              <a:t>·</a:t>
            </a:r>
          </a:p>
        </p:txBody>
      </p:sp>
      <p:sp>
        <p:nvSpPr>
          <p:cNvPr id="15" name="TextBox 14"/>
          <p:cNvSpPr txBox="1"/>
          <p:nvPr/>
        </p:nvSpPr>
        <p:spPr>
          <a:xfrm>
            <a:off x="5303520" y="4014215"/>
            <a:ext cx="5852160" cy="32004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What action is justified right now?</a:t>
            </a:r>
          </a:p>
        </p:txBody>
      </p:sp>
      <p:sp>
        <p:nvSpPr>
          <p:cNvPr id="16" name="TextBox 15"/>
          <p:cNvSpPr txBox="1"/>
          <p:nvPr/>
        </p:nvSpPr>
        <p:spPr>
          <a:xfrm>
            <a:off x="5029200" y="4398264"/>
            <a:ext cx="228600" cy="274320"/>
          </a:xfrm>
          <a:prstGeom prst="rect">
            <a:avLst/>
          </a:prstGeom>
          <a:noFill/>
        </p:spPr>
        <p:txBody>
          <a:bodyPr wrap="square" lIns="0" rIns="0" tIns="0" bIns="0">
            <a:spAutoFit/>
          </a:bodyPr>
          <a:lstStyle/>
          <a:p>
            <a:pPr algn="l">
              <a:lnSpc>
                <a:spcPct val="125000"/>
              </a:lnSpc>
            </a:pPr>
            <a:r>
              <a:rPr sz="1400" b="1">
                <a:solidFill>
                  <a:srgbClr val="EAB308"/>
                </a:solidFill>
                <a:latin typeface="Helvetica Neue"/>
              </a:rPr>
              <a:t>·</a:t>
            </a:r>
          </a:p>
        </p:txBody>
      </p:sp>
      <p:sp>
        <p:nvSpPr>
          <p:cNvPr id="17" name="TextBox 16"/>
          <p:cNvSpPr txBox="1"/>
          <p:nvPr/>
        </p:nvSpPr>
        <p:spPr>
          <a:xfrm>
            <a:off x="5303520" y="4398264"/>
            <a:ext cx="5852160" cy="32004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How confident should I be?</a:t>
            </a:r>
          </a:p>
        </p:txBody>
      </p:sp>
      <p:sp>
        <p:nvSpPr>
          <p:cNvPr id="18" name="TextBox 17"/>
          <p:cNvSpPr txBox="1"/>
          <p:nvPr/>
        </p:nvSpPr>
        <p:spPr>
          <a:xfrm>
            <a:off x="5029200" y="4782312"/>
            <a:ext cx="228600" cy="274320"/>
          </a:xfrm>
          <a:prstGeom prst="rect">
            <a:avLst/>
          </a:prstGeom>
          <a:noFill/>
        </p:spPr>
        <p:txBody>
          <a:bodyPr wrap="square" lIns="0" rIns="0" tIns="0" bIns="0">
            <a:spAutoFit/>
          </a:bodyPr>
          <a:lstStyle/>
          <a:p>
            <a:pPr algn="l">
              <a:lnSpc>
                <a:spcPct val="125000"/>
              </a:lnSpc>
            </a:pPr>
            <a:r>
              <a:rPr sz="1400" b="1">
                <a:solidFill>
                  <a:srgbClr val="EAB308"/>
                </a:solidFill>
                <a:latin typeface="Helvetica Neue"/>
              </a:rPr>
              <a:t>·</a:t>
            </a:r>
          </a:p>
        </p:txBody>
      </p:sp>
      <p:sp>
        <p:nvSpPr>
          <p:cNvPr id="19" name="TextBox 18"/>
          <p:cNvSpPr txBox="1"/>
          <p:nvPr/>
        </p:nvSpPr>
        <p:spPr>
          <a:xfrm>
            <a:off x="5303520" y="4782312"/>
            <a:ext cx="5852160" cy="32004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Can I defend this decision tomorrow?</a:t>
            </a:r>
          </a:p>
        </p:txBody>
      </p:sp>
      <p:sp>
        <p:nvSpPr>
          <p:cNvPr id="20" name="Rectangle 19"/>
          <p:cNvSpPr/>
          <p:nvPr/>
        </p:nvSpPr>
        <p:spPr>
          <a:xfrm>
            <a:off x="777240" y="525780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40680"/>
            <a:ext cx="10607040" cy="731520"/>
          </a:xfrm>
          <a:prstGeom prst="rect">
            <a:avLst/>
          </a:prstGeom>
          <a:noFill/>
        </p:spPr>
        <p:txBody>
          <a:bodyPr wrap="square" lIns="0" rIns="0" tIns="0" bIns="0">
            <a:spAutoFit/>
          </a:bodyPr>
          <a:lstStyle/>
          <a:p>
            <a:pPr algn="l">
              <a:lnSpc>
                <a:spcPct val="150000"/>
              </a:lnSpc>
            </a:pPr>
            <a:r>
              <a:rPr sz="1250" b="0">
                <a:solidFill>
                  <a:srgbClr val="71717A"/>
                </a:solidFill>
                <a:latin typeface="Helvetica Neue"/>
              </a:rPr>
              <a:t>Cities have the monitoring data. What is missing is the reasoning layer between a reading and a defensible decision, and officers assemble it by 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THE SOLUTION</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600" b="1">
                <a:solidFill>
                  <a:srgbClr val="FFFFFF"/>
                </a:solidFill>
                <a:latin typeface="Helvetica Neue"/>
              </a:rPr>
              <a:t>Vayu Console turns environmental evidence into transparent operational decisions.</a:t>
            </a:r>
          </a:p>
        </p:txBody>
      </p:sp>
      <p:sp>
        <p:nvSpPr>
          <p:cNvPr id="4" name="Rounded Rectangle 3"/>
          <p:cNvSpPr/>
          <p:nvPr/>
        </p:nvSpPr>
        <p:spPr>
          <a:xfrm>
            <a:off x="777240" y="2423160"/>
            <a:ext cx="2487168" cy="224028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33272" y="2697480"/>
            <a:ext cx="457200" cy="274320"/>
          </a:xfrm>
          <a:prstGeom prst="rect">
            <a:avLst/>
          </a:prstGeom>
          <a:noFill/>
        </p:spPr>
        <p:txBody>
          <a:bodyPr wrap="square" lIns="0" rIns="0" tIns="0" bIns="0">
            <a:spAutoFit/>
          </a:bodyPr>
          <a:lstStyle/>
          <a:p>
            <a:pPr algn="l">
              <a:lnSpc>
                <a:spcPct val="125000"/>
              </a:lnSpc>
            </a:pPr>
            <a:r>
              <a:rPr sz="1000" b="1">
                <a:solidFill>
                  <a:srgbClr val="52525B"/>
                </a:solidFill>
                <a:latin typeface="Menlo"/>
              </a:rPr>
              <a:t>01</a:t>
            </a:r>
          </a:p>
        </p:txBody>
      </p:sp>
      <p:sp>
        <p:nvSpPr>
          <p:cNvPr id="6" name="TextBox 5"/>
          <p:cNvSpPr txBox="1"/>
          <p:nvPr/>
        </p:nvSpPr>
        <p:spPr>
          <a:xfrm>
            <a:off x="1033272" y="3017520"/>
            <a:ext cx="1975104" cy="411480"/>
          </a:xfrm>
          <a:prstGeom prst="rect">
            <a:avLst/>
          </a:prstGeom>
          <a:noFill/>
        </p:spPr>
        <p:txBody>
          <a:bodyPr wrap="square" lIns="0" rIns="0" tIns="0" bIns="0">
            <a:spAutoFit/>
          </a:bodyPr>
          <a:lstStyle/>
          <a:p>
            <a:pPr algn="l">
              <a:lnSpc>
                <a:spcPct val="125000"/>
              </a:lnSpc>
            </a:pPr>
            <a:r>
              <a:rPr sz="2100" b="1">
                <a:solidFill>
                  <a:srgbClr val="FFFFFF"/>
                </a:solidFill>
                <a:latin typeface="Helvetica Neue"/>
              </a:rPr>
              <a:t>Situation</a:t>
            </a:r>
          </a:p>
        </p:txBody>
      </p:sp>
      <p:sp>
        <p:nvSpPr>
          <p:cNvPr id="7" name="TextBox 6"/>
          <p:cNvSpPr txBox="1"/>
          <p:nvPr/>
        </p:nvSpPr>
        <p:spPr>
          <a:xfrm>
            <a:off x="1033272" y="3520440"/>
            <a:ext cx="1975104" cy="320040"/>
          </a:xfrm>
          <a:prstGeom prst="rect">
            <a:avLst/>
          </a:prstGeom>
          <a:noFill/>
        </p:spPr>
        <p:txBody>
          <a:bodyPr wrap="square" lIns="0" rIns="0" tIns="0" bIns="0">
            <a:spAutoFit/>
          </a:bodyPr>
          <a:lstStyle/>
          <a:p>
            <a:pPr algn="l">
              <a:lnSpc>
                <a:spcPct val="125000"/>
              </a:lnSpc>
            </a:pPr>
            <a:r>
              <a:rPr sz="1200" b="0">
                <a:solidFill>
                  <a:srgbClr val="EAB308"/>
                </a:solidFill>
                <a:latin typeface="Helvetica Neue"/>
              </a:rPr>
              <a:t>What is happening?</a:t>
            </a:r>
          </a:p>
        </p:txBody>
      </p:sp>
      <p:sp>
        <p:nvSpPr>
          <p:cNvPr id="8" name="TextBox 7"/>
          <p:cNvSpPr txBox="1"/>
          <p:nvPr/>
        </p:nvSpPr>
        <p:spPr>
          <a:xfrm>
            <a:off x="1033272" y="3931920"/>
            <a:ext cx="1975104"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Observed pollution conditions for a station-hour.</a:t>
            </a:r>
          </a:p>
        </p:txBody>
      </p:sp>
      <p:sp>
        <p:nvSpPr>
          <p:cNvPr id="9" name="TextBox 8"/>
          <p:cNvSpPr txBox="1"/>
          <p:nvPr/>
        </p:nvSpPr>
        <p:spPr>
          <a:xfrm>
            <a:off x="3282696" y="3291840"/>
            <a:ext cx="274320" cy="274320"/>
          </a:xfrm>
          <a:prstGeom prst="rect">
            <a:avLst/>
          </a:prstGeom>
          <a:noFill/>
        </p:spPr>
        <p:txBody>
          <a:bodyPr wrap="square" lIns="0" rIns="0" tIns="0" bIns="0">
            <a:spAutoFit/>
          </a:bodyPr>
          <a:lstStyle/>
          <a:p>
            <a:pPr algn="l">
              <a:lnSpc>
                <a:spcPct val="125000"/>
              </a:lnSpc>
            </a:pPr>
            <a:r>
              <a:rPr sz="1500" b="0">
                <a:solidFill>
                  <a:srgbClr val="52525B"/>
                </a:solidFill>
                <a:latin typeface="Helvetica Neue"/>
              </a:rPr>
              <a:t>→</a:t>
            </a:r>
          </a:p>
        </p:txBody>
      </p:sp>
      <p:sp>
        <p:nvSpPr>
          <p:cNvPr id="10" name="Rounded Rectangle 9"/>
          <p:cNvSpPr/>
          <p:nvPr/>
        </p:nvSpPr>
        <p:spPr>
          <a:xfrm>
            <a:off x="3520440" y="2423160"/>
            <a:ext cx="2487168" cy="224028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76472" y="2697480"/>
            <a:ext cx="457200" cy="274320"/>
          </a:xfrm>
          <a:prstGeom prst="rect">
            <a:avLst/>
          </a:prstGeom>
          <a:noFill/>
        </p:spPr>
        <p:txBody>
          <a:bodyPr wrap="square" lIns="0" rIns="0" tIns="0" bIns="0">
            <a:spAutoFit/>
          </a:bodyPr>
          <a:lstStyle/>
          <a:p>
            <a:pPr algn="l">
              <a:lnSpc>
                <a:spcPct val="125000"/>
              </a:lnSpc>
            </a:pPr>
            <a:r>
              <a:rPr sz="1000" b="1">
                <a:solidFill>
                  <a:srgbClr val="52525B"/>
                </a:solidFill>
                <a:latin typeface="Menlo"/>
              </a:rPr>
              <a:t>02</a:t>
            </a:r>
          </a:p>
        </p:txBody>
      </p:sp>
      <p:sp>
        <p:nvSpPr>
          <p:cNvPr id="12" name="TextBox 11"/>
          <p:cNvSpPr txBox="1"/>
          <p:nvPr/>
        </p:nvSpPr>
        <p:spPr>
          <a:xfrm>
            <a:off x="3776472" y="3017520"/>
            <a:ext cx="1975104" cy="411480"/>
          </a:xfrm>
          <a:prstGeom prst="rect">
            <a:avLst/>
          </a:prstGeom>
          <a:noFill/>
        </p:spPr>
        <p:txBody>
          <a:bodyPr wrap="square" lIns="0" rIns="0" tIns="0" bIns="0">
            <a:spAutoFit/>
          </a:bodyPr>
          <a:lstStyle/>
          <a:p>
            <a:pPr algn="l">
              <a:lnSpc>
                <a:spcPct val="125000"/>
              </a:lnSpc>
            </a:pPr>
            <a:r>
              <a:rPr sz="2100" b="1">
                <a:solidFill>
                  <a:srgbClr val="FFFFFF"/>
                </a:solidFill>
                <a:latin typeface="Helvetica Neue"/>
              </a:rPr>
              <a:t>Evidence</a:t>
            </a:r>
          </a:p>
        </p:txBody>
      </p:sp>
      <p:sp>
        <p:nvSpPr>
          <p:cNvPr id="13" name="TextBox 12"/>
          <p:cNvSpPr txBox="1"/>
          <p:nvPr/>
        </p:nvSpPr>
        <p:spPr>
          <a:xfrm>
            <a:off x="3776472" y="3520440"/>
            <a:ext cx="1975104" cy="320040"/>
          </a:xfrm>
          <a:prstGeom prst="rect">
            <a:avLst/>
          </a:prstGeom>
          <a:noFill/>
        </p:spPr>
        <p:txBody>
          <a:bodyPr wrap="square" lIns="0" rIns="0" tIns="0" bIns="0">
            <a:spAutoFit/>
          </a:bodyPr>
          <a:lstStyle/>
          <a:p>
            <a:pPr algn="l">
              <a:lnSpc>
                <a:spcPct val="125000"/>
              </a:lnSpc>
            </a:pPr>
            <a:r>
              <a:rPr sz="1200" b="0">
                <a:solidFill>
                  <a:srgbClr val="EAB308"/>
                </a:solidFill>
                <a:latin typeface="Helvetica Neue"/>
              </a:rPr>
              <a:t>What does it support?</a:t>
            </a:r>
          </a:p>
        </p:txBody>
      </p:sp>
      <p:sp>
        <p:nvSpPr>
          <p:cNvPr id="14" name="TextBox 13"/>
          <p:cNvSpPr txBox="1"/>
          <p:nvPr/>
        </p:nvSpPr>
        <p:spPr>
          <a:xfrm>
            <a:off x="3776472" y="3931920"/>
            <a:ext cx="1975104"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Three competing hypotheses, rated independently.</a:t>
            </a:r>
          </a:p>
        </p:txBody>
      </p:sp>
      <p:sp>
        <p:nvSpPr>
          <p:cNvPr id="15" name="TextBox 14"/>
          <p:cNvSpPr txBox="1"/>
          <p:nvPr/>
        </p:nvSpPr>
        <p:spPr>
          <a:xfrm>
            <a:off x="6025896" y="3291840"/>
            <a:ext cx="274320" cy="274320"/>
          </a:xfrm>
          <a:prstGeom prst="rect">
            <a:avLst/>
          </a:prstGeom>
          <a:noFill/>
        </p:spPr>
        <p:txBody>
          <a:bodyPr wrap="square" lIns="0" rIns="0" tIns="0" bIns="0">
            <a:spAutoFit/>
          </a:bodyPr>
          <a:lstStyle/>
          <a:p>
            <a:pPr algn="l">
              <a:lnSpc>
                <a:spcPct val="125000"/>
              </a:lnSpc>
            </a:pPr>
            <a:r>
              <a:rPr sz="1500" b="0">
                <a:solidFill>
                  <a:srgbClr val="52525B"/>
                </a:solidFill>
                <a:latin typeface="Helvetica Neue"/>
              </a:rPr>
              <a:t>→</a:t>
            </a:r>
          </a:p>
        </p:txBody>
      </p:sp>
      <p:sp>
        <p:nvSpPr>
          <p:cNvPr id="16" name="Rounded Rectangle 15"/>
          <p:cNvSpPr/>
          <p:nvPr/>
        </p:nvSpPr>
        <p:spPr>
          <a:xfrm>
            <a:off x="6263640" y="2423160"/>
            <a:ext cx="2487168" cy="224028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19672" y="2697480"/>
            <a:ext cx="457200" cy="274320"/>
          </a:xfrm>
          <a:prstGeom prst="rect">
            <a:avLst/>
          </a:prstGeom>
          <a:noFill/>
        </p:spPr>
        <p:txBody>
          <a:bodyPr wrap="square" lIns="0" rIns="0" tIns="0" bIns="0">
            <a:spAutoFit/>
          </a:bodyPr>
          <a:lstStyle/>
          <a:p>
            <a:pPr algn="l">
              <a:lnSpc>
                <a:spcPct val="125000"/>
              </a:lnSpc>
            </a:pPr>
            <a:r>
              <a:rPr sz="1000" b="1">
                <a:solidFill>
                  <a:srgbClr val="52525B"/>
                </a:solidFill>
                <a:latin typeface="Menlo"/>
              </a:rPr>
              <a:t>03</a:t>
            </a:r>
          </a:p>
        </p:txBody>
      </p:sp>
      <p:sp>
        <p:nvSpPr>
          <p:cNvPr id="18" name="TextBox 17"/>
          <p:cNvSpPr txBox="1"/>
          <p:nvPr/>
        </p:nvSpPr>
        <p:spPr>
          <a:xfrm>
            <a:off x="6519672" y="3017520"/>
            <a:ext cx="1975104" cy="411480"/>
          </a:xfrm>
          <a:prstGeom prst="rect">
            <a:avLst/>
          </a:prstGeom>
          <a:noFill/>
        </p:spPr>
        <p:txBody>
          <a:bodyPr wrap="square" lIns="0" rIns="0" tIns="0" bIns="0">
            <a:spAutoFit/>
          </a:bodyPr>
          <a:lstStyle/>
          <a:p>
            <a:pPr algn="l">
              <a:lnSpc>
                <a:spcPct val="125000"/>
              </a:lnSpc>
            </a:pPr>
            <a:r>
              <a:rPr sz="2100" b="1">
                <a:solidFill>
                  <a:srgbClr val="FFFFFF"/>
                </a:solidFill>
                <a:latin typeface="Helvetica Neue"/>
              </a:rPr>
              <a:t>Decision</a:t>
            </a:r>
          </a:p>
        </p:txBody>
      </p:sp>
      <p:sp>
        <p:nvSpPr>
          <p:cNvPr id="19" name="TextBox 18"/>
          <p:cNvSpPr txBox="1"/>
          <p:nvPr/>
        </p:nvSpPr>
        <p:spPr>
          <a:xfrm>
            <a:off x="6519672" y="3520440"/>
            <a:ext cx="1975104" cy="320040"/>
          </a:xfrm>
          <a:prstGeom prst="rect">
            <a:avLst/>
          </a:prstGeom>
          <a:noFill/>
        </p:spPr>
        <p:txBody>
          <a:bodyPr wrap="square" lIns="0" rIns="0" tIns="0" bIns="0">
            <a:spAutoFit/>
          </a:bodyPr>
          <a:lstStyle/>
          <a:p>
            <a:pPr algn="l">
              <a:lnSpc>
                <a:spcPct val="125000"/>
              </a:lnSpc>
            </a:pPr>
            <a:r>
              <a:rPr sz="1200" b="0">
                <a:solidFill>
                  <a:srgbClr val="EAB308"/>
                </a:solidFill>
                <a:latin typeface="Helvetica Neue"/>
              </a:rPr>
              <a:t>What is justified?</a:t>
            </a:r>
          </a:p>
        </p:txBody>
      </p:sp>
      <p:sp>
        <p:nvSpPr>
          <p:cNvPr id="20" name="TextBox 19"/>
          <p:cNvSpPr txBox="1"/>
          <p:nvPr/>
        </p:nvSpPr>
        <p:spPr>
          <a:xfrm>
            <a:off x="6519672" y="3931920"/>
            <a:ext cx="1975104"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Deterministic rules produce recommendations.</a:t>
            </a:r>
          </a:p>
        </p:txBody>
      </p:sp>
      <p:sp>
        <p:nvSpPr>
          <p:cNvPr id="21" name="TextBox 20"/>
          <p:cNvSpPr txBox="1"/>
          <p:nvPr/>
        </p:nvSpPr>
        <p:spPr>
          <a:xfrm>
            <a:off x="8769096" y="3291840"/>
            <a:ext cx="274320" cy="274320"/>
          </a:xfrm>
          <a:prstGeom prst="rect">
            <a:avLst/>
          </a:prstGeom>
          <a:noFill/>
        </p:spPr>
        <p:txBody>
          <a:bodyPr wrap="square" lIns="0" rIns="0" tIns="0" bIns="0">
            <a:spAutoFit/>
          </a:bodyPr>
          <a:lstStyle/>
          <a:p>
            <a:pPr algn="l">
              <a:lnSpc>
                <a:spcPct val="125000"/>
              </a:lnSpc>
            </a:pPr>
            <a:r>
              <a:rPr sz="1500" b="0">
                <a:solidFill>
                  <a:srgbClr val="52525B"/>
                </a:solidFill>
                <a:latin typeface="Helvetica Neue"/>
              </a:rPr>
              <a:t>→</a:t>
            </a:r>
          </a:p>
        </p:txBody>
      </p:sp>
      <p:sp>
        <p:nvSpPr>
          <p:cNvPr id="22" name="Rounded Rectangle 21"/>
          <p:cNvSpPr/>
          <p:nvPr/>
        </p:nvSpPr>
        <p:spPr>
          <a:xfrm>
            <a:off x="9006840" y="2423160"/>
            <a:ext cx="2487168" cy="224028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62872" y="2697480"/>
            <a:ext cx="457200" cy="274320"/>
          </a:xfrm>
          <a:prstGeom prst="rect">
            <a:avLst/>
          </a:prstGeom>
          <a:noFill/>
        </p:spPr>
        <p:txBody>
          <a:bodyPr wrap="square" lIns="0" rIns="0" tIns="0" bIns="0">
            <a:spAutoFit/>
          </a:bodyPr>
          <a:lstStyle/>
          <a:p>
            <a:pPr algn="l">
              <a:lnSpc>
                <a:spcPct val="125000"/>
              </a:lnSpc>
            </a:pPr>
            <a:r>
              <a:rPr sz="1000" b="1">
                <a:solidFill>
                  <a:srgbClr val="52525B"/>
                </a:solidFill>
                <a:latin typeface="Menlo"/>
              </a:rPr>
              <a:t>04</a:t>
            </a:r>
          </a:p>
        </p:txBody>
      </p:sp>
      <p:sp>
        <p:nvSpPr>
          <p:cNvPr id="24" name="TextBox 23"/>
          <p:cNvSpPr txBox="1"/>
          <p:nvPr/>
        </p:nvSpPr>
        <p:spPr>
          <a:xfrm>
            <a:off x="9262872" y="3017520"/>
            <a:ext cx="1975104" cy="411480"/>
          </a:xfrm>
          <a:prstGeom prst="rect">
            <a:avLst/>
          </a:prstGeom>
          <a:noFill/>
        </p:spPr>
        <p:txBody>
          <a:bodyPr wrap="square" lIns="0" rIns="0" tIns="0" bIns="0">
            <a:spAutoFit/>
          </a:bodyPr>
          <a:lstStyle/>
          <a:p>
            <a:pPr algn="l">
              <a:lnSpc>
                <a:spcPct val="125000"/>
              </a:lnSpc>
            </a:pPr>
            <a:r>
              <a:rPr sz="2100" b="1">
                <a:solidFill>
                  <a:srgbClr val="FFFFFF"/>
                </a:solidFill>
                <a:latin typeface="Helvetica Neue"/>
              </a:rPr>
              <a:t>Explanation</a:t>
            </a:r>
          </a:p>
        </p:txBody>
      </p:sp>
      <p:sp>
        <p:nvSpPr>
          <p:cNvPr id="25" name="TextBox 24"/>
          <p:cNvSpPr txBox="1"/>
          <p:nvPr/>
        </p:nvSpPr>
        <p:spPr>
          <a:xfrm>
            <a:off x="9262872" y="3520440"/>
            <a:ext cx="1975104" cy="320040"/>
          </a:xfrm>
          <a:prstGeom prst="rect">
            <a:avLst/>
          </a:prstGeom>
          <a:noFill/>
        </p:spPr>
        <p:txBody>
          <a:bodyPr wrap="square" lIns="0" rIns="0" tIns="0" bIns="0">
            <a:spAutoFit/>
          </a:bodyPr>
          <a:lstStyle/>
          <a:p>
            <a:pPr algn="l">
              <a:lnSpc>
                <a:spcPct val="125000"/>
              </a:lnSpc>
            </a:pPr>
            <a:r>
              <a:rPr sz="1200" b="0">
                <a:solidFill>
                  <a:srgbClr val="EAB308"/>
                </a:solidFill>
                <a:latin typeface="Helvetica Neue"/>
              </a:rPr>
              <a:t>Why this?</a:t>
            </a:r>
          </a:p>
        </p:txBody>
      </p:sp>
      <p:sp>
        <p:nvSpPr>
          <p:cNvPr id="26" name="TextBox 25"/>
          <p:cNvSpPr txBox="1"/>
          <p:nvPr/>
        </p:nvSpPr>
        <p:spPr>
          <a:xfrm>
            <a:off x="9262872" y="3931920"/>
            <a:ext cx="1975104"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Every recommendation traces back to its evidence.</a:t>
            </a:r>
          </a:p>
        </p:txBody>
      </p:sp>
      <p:sp>
        <p:nvSpPr>
          <p:cNvPr id="27" name="Rectangle 26"/>
          <p:cNvSpPr/>
          <p:nvPr/>
        </p:nvSpPr>
        <p:spPr>
          <a:xfrm>
            <a:off x="777240" y="512064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03520"/>
            <a:ext cx="10607040" cy="548640"/>
          </a:xfrm>
          <a:prstGeom prst="rect">
            <a:avLst/>
          </a:prstGeom>
          <a:noFill/>
        </p:spPr>
        <p:txBody>
          <a:bodyPr wrap="square" lIns="0" rIns="0" tIns="0" bIns="0">
            <a:spAutoFit/>
          </a:bodyPr>
          <a:lstStyle/>
          <a:p>
            <a:pPr algn="l">
              <a:lnSpc>
                <a:spcPct val="125000"/>
              </a:lnSpc>
            </a:pPr>
            <a:r>
              <a:rPr sz="1250" b="0">
                <a:solidFill>
                  <a:srgbClr val="71717A"/>
                </a:solidFill>
                <a:latin typeface="Helvetica Neue"/>
              </a:rPr>
              <a:t>The layout of the console is this sequence, left to right. The interface is the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HOW IT WORKS</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800" b="1">
                <a:solidFill>
                  <a:srgbClr val="FFFFFF"/>
                </a:solidFill>
                <a:latin typeface="Helvetica Neue"/>
              </a:rPr>
              <a:t>Architecture</a:t>
            </a:r>
          </a:p>
        </p:txBody>
      </p:sp>
      <p:sp>
        <p:nvSpPr>
          <p:cNvPr id="4" name="Rounded Rectangle 3"/>
          <p:cNvSpPr/>
          <p:nvPr/>
        </p:nvSpPr>
        <p:spPr>
          <a:xfrm>
            <a:off x="777240" y="1783080"/>
            <a:ext cx="10607040" cy="56692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1883664"/>
            <a:ext cx="2743200" cy="365760"/>
          </a:xfrm>
          <a:prstGeom prst="rect">
            <a:avLst/>
          </a:prstGeom>
          <a:noFill/>
        </p:spPr>
        <p:txBody>
          <a:bodyPr wrap="square" lIns="0" rIns="0" tIns="0" bIns="0">
            <a:spAutoFit/>
          </a:bodyPr>
          <a:lstStyle/>
          <a:p>
            <a:pPr algn="l">
              <a:lnSpc>
                <a:spcPct val="125000"/>
              </a:lnSpc>
            </a:pPr>
            <a:r>
              <a:rPr sz="1050" b="1" spc="160">
                <a:solidFill>
                  <a:srgbClr val="71717A"/>
                </a:solidFill>
                <a:latin typeface="Helvetica Neue"/>
              </a:rPr>
              <a:t>DATA SOURCES</a:t>
            </a:r>
          </a:p>
        </p:txBody>
      </p:sp>
      <p:sp>
        <p:nvSpPr>
          <p:cNvPr id="6" name="TextBox 5"/>
          <p:cNvSpPr txBox="1"/>
          <p:nvPr/>
        </p:nvSpPr>
        <p:spPr>
          <a:xfrm>
            <a:off x="3931920" y="1874520"/>
            <a:ext cx="7315200" cy="411480"/>
          </a:xfrm>
          <a:prstGeom prst="rect">
            <a:avLst/>
          </a:prstGeom>
          <a:noFill/>
        </p:spPr>
        <p:txBody>
          <a:bodyPr wrap="square" lIns="0" rIns="0" tIns="0" bIns="0">
            <a:spAutoFit/>
          </a:bodyPr>
          <a:lstStyle/>
          <a:p>
            <a:pPr algn="l">
              <a:lnSpc>
                <a:spcPct val="120000"/>
              </a:lnSpc>
            </a:pPr>
            <a:r>
              <a:rPr sz="1250" b="0">
                <a:solidFill>
                  <a:srgbClr val="FFFFFF"/>
                </a:solidFill>
                <a:latin typeface="Helvetica Neue"/>
              </a:rPr>
              <a:t>OpenAQ S3 archive (CPCB station readings)   ·   NASA FIRMS (VIIRS active fire)   ·   Open-Meteo (wind, boundary layer)</a:t>
            </a:r>
          </a:p>
        </p:txBody>
      </p:sp>
      <p:sp>
        <p:nvSpPr>
          <p:cNvPr id="7" name="TextBox 6"/>
          <p:cNvSpPr txBox="1"/>
          <p:nvPr/>
        </p:nvSpPr>
        <p:spPr>
          <a:xfrm>
            <a:off x="5989320" y="2331720"/>
            <a:ext cx="274320" cy="182880"/>
          </a:xfrm>
          <a:prstGeom prst="rect">
            <a:avLst/>
          </a:prstGeom>
          <a:noFill/>
        </p:spPr>
        <p:txBody>
          <a:bodyPr wrap="square" lIns="0" rIns="0" tIns="0" bIns="0">
            <a:spAutoFit/>
          </a:bodyPr>
          <a:lstStyle/>
          <a:p>
            <a:pPr algn="l">
              <a:lnSpc>
                <a:spcPct val="125000"/>
              </a:lnSpc>
            </a:pPr>
            <a:r>
              <a:rPr sz="1100" b="0">
                <a:solidFill>
                  <a:srgbClr val="52525B"/>
                </a:solidFill>
                <a:latin typeface="Helvetica Neue"/>
              </a:rPr>
              <a:t>↓</a:t>
            </a:r>
          </a:p>
        </p:txBody>
      </p:sp>
      <p:sp>
        <p:nvSpPr>
          <p:cNvPr id="8" name="Rounded Rectangle 7"/>
          <p:cNvSpPr/>
          <p:nvPr/>
        </p:nvSpPr>
        <p:spPr>
          <a:xfrm>
            <a:off x="777240" y="2478024"/>
            <a:ext cx="10607040" cy="56692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51560" y="2578608"/>
            <a:ext cx="2743200" cy="365760"/>
          </a:xfrm>
          <a:prstGeom prst="rect">
            <a:avLst/>
          </a:prstGeom>
          <a:noFill/>
        </p:spPr>
        <p:txBody>
          <a:bodyPr wrap="square" lIns="0" rIns="0" tIns="0" bIns="0">
            <a:spAutoFit/>
          </a:bodyPr>
          <a:lstStyle/>
          <a:p>
            <a:pPr algn="l">
              <a:lnSpc>
                <a:spcPct val="125000"/>
              </a:lnSpc>
            </a:pPr>
            <a:r>
              <a:rPr sz="1050" b="1" spc="160">
                <a:solidFill>
                  <a:srgbClr val="71717A"/>
                </a:solidFill>
                <a:latin typeface="Helvetica Neue"/>
              </a:rPr>
              <a:t>INGESTION &amp; VALIDATION</a:t>
            </a:r>
          </a:p>
        </p:txBody>
      </p:sp>
      <p:sp>
        <p:nvSpPr>
          <p:cNvPr id="10" name="TextBox 9"/>
          <p:cNvSpPr txBox="1"/>
          <p:nvPr/>
        </p:nvSpPr>
        <p:spPr>
          <a:xfrm>
            <a:off x="3931920" y="2569464"/>
            <a:ext cx="7315200" cy="411480"/>
          </a:xfrm>
          <a:prstGeom prst="rect">
            <a:avLst/>
          </a:prstGeom>
          <a:noFill/>
        </p:spPr>
        <p:txBody>
          <a:bodyPr wrap="square" lIns="0" rIns="0" tIns="0" bIns="0">
            <a:spAutoFit/>
          </a:bodyPr>
          <a:lstStyle/>
          <a:p>
            <a:pPr algn="l">
              <a:lnSpc>
                <a:spcPct val="120000"/>
              </a:lnSpc>
            </a:pPr>
            <a:r>
              <a:rPr sz="1250" b="0">
                <a:solidFill>
                  <a:srgbClr val="FFFFFF"/>
                </a:solidFill>
                <a:latin typeface="Helvetica Neue"/>
              </a:rPr>
              <a:t>Sentinel rejection · UTC normalisation · station deduplication</a:t>
            </a:r>
          </a:p>
        </p:txBody>
      </p:sp>
      <p:sp>
        <p:nvSpPr>
          <p:cNvPr id="11" name="TextBox 10"/>
          <p:cNvSpPr txBox="1"/>
          <p:nvPr/>
        </p:nvSpPr>
        <p:spPr>
          <a:xfrm>
            <a:off x="5989320" y="3026664"/>
            <a:ext cx="274320" cy="182880"/>
          </a:xfrm>
          <a:prstGeom prst="rect">
            <a:avLst/>
          </a:prstGeom>
          <a:noFill/>
        </p:spPr>
        <p:txBody>
          <a:bodyPr wrap="square" lIns="0" rIns="0" tIns="0" bIns="0">
            <a:spAutoFit/>
          </a:bodyPr>
          <a:lstStyle/>
          <a:p>
            <a:pPr algn="l">
              <a:lnSpc>
                <a:spcPct val="125000"/>
              </a:lnSpc>
            </a:pPr>
            <a:r>
              <a:rPr sz="1100" b="0">
                <a:solidFill>
                  <a:srgbClr val="52525B"/>
                </a:solidFill>
                <a:latin typeface="Helvetica Neue"/>
              </a:rPr>
              <a:t>↓</a:t>
            </a:r>
          </a:p>
        </p:txBody>
      </p:sp>
      <p:sp>
        <p:nvSpPr>
          <p:cNvPr id="12" name="Rounded Rectangle 11"/>
          <p:cNvSpPr/>
          <p:nvPr/>
        </p:nvSpPr>
        <p:spPr>
          <a:xfrm>
            <a:off x="777240" y="3172968"/>
            <a:ext cx="10607040" cy="56692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51560" y="3273552"/>
            <a:ext cx="2743200" cy="365760"/>
          </a:xfrm>
          <a:prstGeom prst="rect">
            <a:avLst/>
          </a:prstGeom>
          <a:noFill/>
        </p:spPr>
        <p:txBody>
          <a:bodyPr wrap="square" lIns="0" rIns="0" tIns="0" bIns="0">
            <a:spAutoFit/>
          </a:bodyPr>
          <a:lstStyle/>
          <a:p>
            <a:pPr algn="l">
              <a:lnSpc>
                <a:spcPct val="125000"/>
              </a:lnSpc>
            </a:pPr>
            <a:r>
              <a:rPr sz="1050" b="1" spc="160">
                <a:solidFill>
                  <a:srgbClr val="71717A"/>
                </a:solidFill>
                <a:latin typeface="Helvetica Neue"/>
              </a:rPr>
              <a:t>STORAGE</a:t>
            </a:r>
          </a:p>
        </p:txBody>
      </p:sp>
      <p:sp>
        <p:nvSpPr>
          <p:cNvPr id="14" name="TextBox 13"/>
          <p:cNvSpPr txBox="1"/>
          <p:nvPr/>
        </p:nvSpPr>
        <p:spPr>
          <a:xfrm>
            <a:off x="3931920" y="3264408"/>
            <a:ext cx="7315200" cy="411480"/>
          </a:xfrm>
          <a:prstGeom prst="rect">
            <a:avLst/>
          </a:prstGeom>
          <a:noFill/>
        </p:spPr>
        <p:txBody>
          <a:bodyPr wrap="square" lIns="0" rIns="0" tIns="0" bIns="0">
            <a:spAutoFit/>
          </a:bodyPr>
          <a:lstStyle/>
          <a:p>
            <a:pPr algn="l">
              <a:lnSpc>
                <a:spcPct val="120000"/>
              </a:lnSpc>
            </a:pPr>
            <a:r>
              <a:rPr sz="1250" b="0">
                <a:solidFill>
                  <a:srgbClr val="FFFFFF"/>
                </a:solidFill>
                <a:latin typeface="Helvetica Neue"/>
              </a:rPr>
              <a:t>Supabase PostgreSQL + PostGIS</a:t>
            </a:r>
          </a:p>
        </p:txBody>
      </p:sp>
      <p:sp>
        <p:nvSpPr>
          <p:cNvPr id="15" name="TextBox 14"/>
          <p:cNvSpPr txBox="1"/>
          <p:nvPr/>
        </p:nvSpPr>
        <p:spPr>
          <a:xfrm>
            <a:off x="5989320" y="3721608"/>
            <a:ext cx="274320" cy="182880"/>
          </a:xfrm>
          <a:prstGeom prst="rect">
            <a:avLst/>
          </a:prstGeom>
          <a:noFill/>
        </p:spPr>
        <p:txBody>
          <a:bodyPr wrap="square" lIns="0" rIns="0" tIns="0" bIns="0">
            <a:spAutoFit/>
          </a:bodyPr>
          <a:lstStyle/>
          <a:p>
            <a:pPr algn="l">
              <a:lnSpc>
                <a:spcPct val="125000"/>
              </a:lnSpc>
            </a:pPr>
            <a:r>
              <a:rPr sz="1100" b="0">
                <a:solidFill>
                  <a:srgbClr val="52525B"/>
                </a:solidFill>
                <a:latin typeface="Helvetica Neue"/>
              </a:rPr>
              <a:t>↓</a:t>
            </a:r>
          </a:p>
        </p:txBody>
      </p:sp>
      <p:sp>
        <p:nvSpPr>
          <p:cNvPr id="16" name="Rounded Rectangle 15"/>
          <p:cNvSpPr/>
          <p:nvPr/>
        </p:nvSpPr>
        <p:spPr>
          <a:xfrm>
            <a:off x="777240" y="3867912"/>
            <a:ext cx="10607040" cy="566928"/>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51560" y="3968496"/>
            <a:ext cx="2743200" cy="365760"/>
          </a:xfrm>
          <a:prstGeom prst="rect">
            <a:avLst/>
          </a:prstGeom>
          <a:noFill/>
        </p:spPr>
        <p:txBody>
          <a:bodyPr wrap="square" lIns="0" rIns="0" tIns="0" bIns="0">
            <a:spAutoFit/>
          </a:bodyPr>
          <a:lstStyle/>
          <a:p>
            <a:pPr algn="l">
              <a:lnSpc>
                <a:spcPct val="125000"/>
              </a:lnSpc>
            </a:pPr>
            <a:r>
              <a:rPr sz="1050" b="1" spc="160">
                <a:solidFill>
                  <a:srgbClr val="EAB308"/>
                </a:solidFill>
                <a:latin typeface="Helvetica Neue"/>
              </a:rPr>
              <a:t>EVIDENCE ENGINE</a:t>
            </a:r>
          </a:p>
        </p:txBody>
      </p:sp>
      <p:sp>
        <p:nvSpPr>
          <p:cNvPr id="18" name="TextBox 17"/>
          <p:cNvSpPr txBox="1"/>
          <p:nvPr/>
        </p:nvSpPr>
        <p:spPr>
          <a:xfrm>
            <a:off x="3931920" y="3959352"/>
            <a:ext cx="7315200" cy="411480"/>
          </a:xfrm>
          <a:prstGeom prst="rect">
            <a:avLst/>
          </a:prstGeom>
          <a:noFill/>
        </p:spPr>
        <p:txBody>
          <a:bodyPr wrap="square" lIns="0" rIns="0" tIns="0" bIns="0">
            <a:spAutoFit/>
          </a:bodyPr>
          <a:lstStyle/>
          <a:p>
            <a:pPr algn="l">
              <a:lnSpc>
                <a:spcPct val="120000"/>
              </a:lnSpc>
            </a:pPr>
            <a:r>
              <a:rPr sz="1250" b="0">
                <a:solidFill>
                  <a:srgbClr val="FFFFFF"/>
                </a:solidFill>
                <a:latin typeface="Helvetica Neue"/>
              </a:rPr>
              <a:t>Biomass / Fire   ·   Traffic   ·   Industrial</a:t>
            </a:r>
          </a:p>
        </p:txBody>
      </p:sp>
      <p:sp>
        <p:nvSpPr>
          <p:cNvPr id="19" name="TextBox 18"/>
          <p:cNvSpPr txBox="1"/>
          <p:nvPr/>
        </p:nvSpPr>
        <p:spPr>
          <a:xfrm>
            <a:off x="5989320" y="4416552"/>
            <a:ext cx="274320" cy="182880"/>
          </a:xfrm>
          <a:prstGeom prst="rect">
            <a:avLst/>
          </a:prstGeom>
          <a:noFill/>
        </p:spPr>
        <p:txBody>
          <a:bodyPr wrap="square" lIns="0" rIns="0" tIns="0" bIns="0">
            <a:spAutoFit/>
          </a:bodyPr>
          <a:lstStyle/>
          <a:p>
            <a:pPr algn="l">
              <a:lnSpc>
                <a:spcPct val="125000"/>
              </a:lnSpc>
            </a:pPr>
            <a:r>
              <a:rPr sz="1100" b="0">
                <a:solidFill>
                  <a:srgbClr val="52525B"/>
                </a:solidFill>
                <a:latin typeface="Helvetica Neue"/>
              </a:rPr>
              <a:t>↓</a:t>
            </a:r>
          </a:p>
        </p:txBody>
      </p:sp>
      <p:sp>
        <p:nvSpPr>
          <p:cNvPr id="20" name="Rounded Rectangle 19"/>
          <p:cNvSpPr/>
          <p:nvPr/>
        </p:nvSpPr>
        <p:spPr>
          <a:xfrm>
            <a:off x="777240" y="4562856"/>
            <a:ext cx="10607040" cy="566928"/>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51560" y="4663440"/>
            <a:ext cx="2743200" cy="365760"/>
          </a:xfrm>
          <a:prstGeom prst="rect">
            <a:avLst/>
          </a:prstGeom>
          <a:noFill/>
        </p:spPr>
        <p:txBody>
          <a:bodyPr wrap="square" lIns="0" rIns="0" tIns="0" bIns="0">
            <a:spAutoFit/>
          </a:bodyPr>
          <a:lstStyle/>
          <a:p>
            <a:pPr algn="l">
              <a:lnSpc>
                <a:spcPct val="125000"/>
              </a:lnSpc>
            </a:pPr>
            <a:r>
              <a:rPr sz="1050" b="1" spc="160">
                <a:solidFill>
                  <a:srgbClr val="EAB308"/>
                </a:solidFill>
                <a:latin typeface="Helvetica Neue"/>
              </a:rPr>
              <a:t>DECISION ENGINE</a:t>
            </a:r>
          </a:p>
        </p:txBody>
      </p:sp>
      <p:sp>
        <p:nvSpPr>
          <p:cNvPr id="22" name="TextBox 21"/>
          <p:cNvSpPr txBox="1"/>
          <p:nvPr/>
        </p:nvSpPr>
        <p:spPr>
          <a:xfrm>
            <a:off x="3931920" y="4654296"/>
            <a:ext cx="7315200" cy="411480"/>
          </a:xfrm>
          <a:prstGeom prst="rect">
            <a:avLst/>
          </a:prstGeom>
          <a:noFill/>
        </p:spPr>
        <p:txBody>
          <a:bodyPr wrap="square" lIns="0" rIns="0" tIns="0" bIns="0">
            <a:spAutoFit/>
          </a:bodyPr>
          <a:lstStyle/>
          <a:p>
            <a:pPr algn="l">
              <a:lnSpc>
                <a:spcPct val="120000"/>
              </a:lnSpc>
            </a:pPr>
            <a:r>
              <a:rPr sz="1250" b="0">
                <a:solidFill>
                  <a:srgbClr val="FFFFFF"/>
                </a:solidFill>
                <a:latin typeface="Helvetica Neue"/>
              </a:rPr>
              <a:t>Deterministic rules → policies → recommendations</a:t>
            </a:r>
          </a:p>
        </p:txBody>
      </p:sp>
      <p:sp>
        <p:nvSpPr>
          <p:cNvPr id="23" name="TextBox 22"/>
          <p:cNvSpPr txBox="1"/>
          <p:nvPr/>
        </p:nvSpPr>
        <p:spPr>
          <a:xfrm>
            <a:off x="5989320" y="5111496"/>
            <a:ext cx="274320" cy="182880"/>
          </a:xfrm>
          <a:prstGeom prst="rect">
            <a:avLst/>
          </a:prstGeom>
          <a:noFill/>
        </p:spPr>
        <p:txBody>
          <a:bodyPr wrap="square" lIns="0" rIns="0" tIns="0" bIns="0">
            <a:spAutoFit/>
          </a:bodyPr>
          <a:lstStyle/>
          <a:p>
            <a:pPr algn="l">
              <a:lnSpc>
                <a:spcPct val="125000"/>
              </a:lnSpc>
            </a:pPr>
            <a:r>
              <a:rPr sz="1100" b="0">
                <a:solidFill>
                  <a:srgbClr val="52525B"/>
                </a:solidFill>
                <a:latin typeface="Helvetica Neue"/>
              </a:rPr>
              <a:t>↓</a:t>
            </a:r>
          </a:p>
        </p:txBody>
      </p:sp>
      <p:sp>
        <p:nvSpPr>
          <p:cNvPr id="24" name="Rounded Rectangle 23"/>
          <p:cNvSpPr/>
          <p:nvPr/>
        </p:nvSpPr>
        <p:spPr>
          <a:xfrm>
            <a:off x="777240" y="5257800"/>
            <a:ext cx="10607040" cy="56692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51560" y="5358384"/>
            <a:ext cx="2743200" cy="365760"/>
          </a:xfrm>
          <a:prstGeom prst="rect">
            <a:avLst/>
          </a:prstGeom>
          <a:noFill/>
        </p:spPr>
        <p:txBody>
          <a:bodyPr wrap="square" lIns="0" rIns="0" tIns="0" bIns="0">
            <a:spAutoFit/>
          </a:bodyPr>
          <a:lstStyle/>
          <a:p>
            <a:pPr algn="l">
              <a:lnSpc>
                <a:spcPct val="125000"/>
              </a:lnSpc>
            </a:pPr>
            <a:r>
              <a:rPr sz="1050" b="1" spc="160">
                <a:solidFill>
                  <a:srgbClr val="71717A"/>
                </a:solidFill>
                <a:latin typeface="Helvetica Neue"/>
              </a:rPr>
              <a:t>OPERATIONS CONSOLE</a:t>
            </a:r>
          </a:p>
        </p:txBody>
      </p:sp>
      <p:sp>
        <p:nvSpPr>
          <p:cNvPr id="26" name="TextBox 25"/>
          <p:cNvSpPr txBox="1"/>
          <p:nvPr/>
        </p:nvSpPr>
        <p:spPr>
          <a:xfrm>
            <a:off x="3931920" y="5349240"/>
            <a:ext cx="7315200" cy="411480"/>
          </a:xfrm>
          <a:prstGeom prst="rect">
            <a:avLst/>
          </a:prstGeom>
          <a:noFill/>
        </p:spPr>
        <p:txBody>
          <a:bodyPr wrap="square" lIns="0" rIns="0" tIns="0" bIns="0">
            <a:spAutoFit/>
          </a:bodyPr>
          <a:lstStyle/>
          <a:p>
            <a:pPr algn="l">
              <a:lnSpc>
                <a:spcPct val="120000"/>
              </a:lnSpc>
            </a:pPr>
            <a:r>
              <a:rPr sz="1250" b="0">
                <a:solidFill>
                  <a:srgbClr val="FFFFFF"/>
                </a:solidFill>
                <a:latin typeface="Helvetica Neue"/>
              </a:rPr>
              <a:t>FastAPI  →  Next.js  →  Officer</a:t>
            </a:r>
          </a:p>
        </p:txBody>
      </p:sp>
      <p:sp>
        <p:nvSpPr>
          <p:cNvPr id="27" name="TextBox 26"/>
          <p:cNvSpPr txBox="1"/>
          <p:nvPr/>
        </p:nvSpPr>
        <p:spPr>
          <a:xfrm>
            <a:off x="777240" y="6172200"/>
            <a:ext cx="10607040" cy="457200"/>
          </a:xfrm>
          <a:prstGeom prst="rect">
            <a:avLst/>
          </a:prstGeom>
          <a:noFill/>
        </p:spPr>
        <p:txBody>
          <a:bodyPr wrap="square" lIns="0" rIns="0" tIns="0" bIns="0">
            <a:spAutoFit/>
          </a:bodyPr>
          <a:lstStyle/>
          <a:p>
            <a:pPr algn="l">
              <a:lnSpc>
                <a:spcPct val="125000"/>
              </a:lnSpc>
            </a:pPr>
            <a:r>
              <a:rPr sz="1250" b="0">
                <a:solidFill>
                  <a:srgbClr val="71717A"/>
                </a:solidFill>
                <a:latin typeface="Helvetica Neue"/>
              </a:rPr>
              <a:t>Three ingested sources. No LLM anywhere in the decision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THE EVIDENCE ENGINE</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700" b="1">
                <a:solidFill>
                  <a:srgbClr val="FFFFFF"/>
                </a:solidFill>
                <a:latin typeface="Helvetica Neue"/>
              </a:rPr>
              <a:t>We evaluate hypotheses. We do not fabricate attribution.</a:t>
            </a:r>
          </a:p>
        </p:txBody>
      </p:sp>
      <p:sp>
        <p:nvSpPr>
          <p:cNvPr id="4" name="Rounded Rectangle 3"/>
          <p:cNvSpPr/>
          <p:nvPr/>
        </p:nvSpPr>
        <p:spPr>
          <a:xfrm>
            <a:off x="777240" y="2286000"/>
            <a:ext cx="3401568" cy="16002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2514600"/>
            <a:ext cx="2852928" cy="365760"/>
          </a:xfrm>
          <a:prstGeom prst="rect">
            <a:avLst/>
          </a:prstGeom>
          <a:noFill/>
        </p:spPr>
        <p:txBody>
          <a:bodyPr wrap="square" lIns="0" rIns="0" tIns="0" bIns="0">
            <a:spAutoFit/>
          </a:bodyPr>
          <a:lstStyle/>
          <a:p>
            <a:pPr algn="l">
              <a:lnSpc>
                <a:spcPct val="125000"/>
              </a:lnSpc>
            </a:pPr>
            <a:r>
              <a:rPr sz="1700" b="1">
                <a:solidFill>
                  <a:srgbClr val="FFFFFF"/>
                </a:solidFill>
                <a:latin typeface="Helvetica Neue"/>
              </a:rPr>
              <a:t>Fire / Biomass</a:t>
            </a:r>
          </a:p>
        </p:txBody>
      </p:sp>
      <p:sp>
        <p:nvSpPr>
          <p:cNvPr id="6" name="TextBox 5"/>
          <p:cNvSpPr txBox="1"/>
          <p:nvPr/>
        </p:nvSpPr>
        <p:spPr>
          <a:xfrm>
            <a:off x="1051560" y="2971800"/>
            <a:ext cx="2852928" cy="365760"/>
          </a:xfrm>
          <a:prstGeom prst="rect">
            <a:avLst/>
          </a:prstGeom>
          <a:noFill/>
        </p:spPr>
        <p:txBody>
          <a:bodyPr wrap="square" lIns="0" rIns="0" tIns="0" bIns="0">
            <a:spAutoFit/>
          </a:bodyPr>
          <a:lstStyle/>
          <a:p>
            <a:pPr algn="l">
              <a:lnSpc>
                <a:spcPct val="125000"/>
              </a:lnSpc>
            </a:pPr>
            <a:r>
              <a:rPr sz="2000" b="0">
                <a:solidFill>
                  <a:srgbClr val="22C55E"/>
                </a:solidFill>
                <a:latin typeface="Menlo"/>
              </a:rPr>
              <a:t>★★★☆☆</a:t>
            </a:r>
          </a:p>
        </p:txBody>
      </p:sp>
      <p:sp>
        <p:nvSpPr>
          <p:cNvPr id="7" name="TextBox 6"/>
          <p:cNvSpPr txBox="1"/>
          <p:nvPr/>
        </p:nvSpPr>
        <p:spPr>
          <a:xfrm>
            <a:off x="1051560" y="3429000"/>
            <a:ext cx="2852928" cy="274320"/>
          </a:xfrm>
          <a:prstGeom prst="rect">
            <a:avLst/>
          </a:prstGeom>
          <a:noFill/>
        </p:spPr>
        <p:txBody>
          <a:bodyPr wrap="square" lIns="0" rIns="0" tIns="0" bIns="0">
            <a:spAutoFit/>
          </a:bodyPr>
          <a:lstStyle/>
          <a:p>
            <a:pPr algn="l">
              <a:lnSpc>
                <a:spcPct val="125000"/>
              </a:lnSpc>
            </a:pPr>
            <a:r>
              <a:rPr sz="950" b="1" spc="120">
                <a:solidFill>
                  <a:srgbClr val="71717A"/>
                </a:solidFill>
                <a:latin typeface="Helvetica Neue"/>
              </a:rPr>
              <a:t>MODERATE  ·  HIGH-QUALITY DATA</a:t>
            </a:r>
          </a:p>
        </p:txBody>
      </p:sp>
      <p:sp>
        <p:nvSpPr>
          <p:cNvPr id="8" name="Rounded Rectangle 7"/>
          <p:cNvSpPr/>
          <p:nvPr/>
        </p:nvSpPr>
        <p:spPr>
          <a:xfrm>
            <a:off x="4379976" y="2286000"/>
            <a:ext cx="3401568" cy="16002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54296" y="2514600"/>
            <a:ext cx="2852928" cy="365760"/>
          </a:xfrm>
          <a:prstGeom prst="rect">
            <a:avLst/>
          </a:prstGeom>
          <a:noFill/>
        </p:spPr>
        <p:txBody>
          <a:bodyPr wrap="square" lIns="0" rIns="0" tIns="0" bIns="0">
            <a:spAutoFit/>
          </a:bodyPr>
          <a:lstStyle/>
          <a:p>
            <a:pPr algn="l">
              <a:lnSpc>
                <a:spcPct val="125000"/>
              </a:lnSpc>
            </a:pPr>
            <a:r>
              <a:rPr sz="1700" b="1">
                <a:solidFill>
                  <a:srgbClr val="FFFFFF"/>
                </a:solidFill>
                <a:latin typeface="Helvetica Neue"/>
              </a:rPr>
              <a:t>Traffic</a:t>
            </a:r>
          </a:p>
        </p:txBody>
      </p:sp>
      <p:sp>
        <p:nvSpPr>
          <p:cNvPr id="10" name="TextBox 9"/>
          <p:cNvSpPr txBox="1"/>
          <p:nvPr/>
        </p:nvSpPr>
        <p:spPr>
          <a:xfrm>
            <a:off x="4654296" y="2971800"/>
            <a:ext cx="2852928" cy="365760"/>
          </a:xfrm>
          <a:prstGeom prst="rect">
            <a:avLst/>
          </a:prstGeom>
          <a:noFill/>
        </p:spPr>
        <p:txBody>
          <a:bodyPr wrap="square" lIns="0" rIns="0" tIns="0" bIns="0">
            <a:spAutoFit/>
          </a:bodyPr>
          <a:lstStyle/>
          <a:p>
            <a:pPr algn="l">
              <a:lnSpc>
                <a:spcPct val="125000"/>
              </a:lnSpc>
            </a:pPr>
            <a:r>
              <a:rPr sz="2000" b="0">
                <a:solidFill>
                  <a:srgbClr val="EAB308"/>
                </a:solidFill>
                <a:latin typeface="Menlo"/>
              </a:rPr>
              <a:t>★☆☆☆☆</a:t>
            </a:r>
          </a:p>
        </p:txBody>
      </p:sp>
      <p:sp>
        <p:nvSpPr>
          <p:cNvPr id="11" name="TextBox 10"/>
          <p:cNvSpPr txBox="1"/>
          <p:nvPr/>
        </p:nvSpPr>
        <p:spPr>
          <a:xfrm>
            <a:off x="4654296" y="3429000"/>
            <a:ext cx="2852928" cy="274320"/>
          </a:xfrm>
          <a:prstGeom prst="rect">
            <a:avLst/>
          </a:prstGeom>
          <a:noFill/>
        </p:spPr>
        <p:txBody>
          <a:bodyPr wrap="square" lIns="0" rIns="0" tIns="0" bIns="0">
            <a:spAutoFit/>
          </a:bodyPr>
          <a:lstStyle/>
          <a:p>
            <a:pPr algn="l">
              <a:lnSpc>
                <a:spcPct val="125000"/>
              </a:lnSpc>
            </a:pPr>
            <a:r>
              <a:rPr sz="950" b="1" spc="120">
                <a:solidFill>
                  <a:srgbClr val="71717A"/>
                </a:solidFill>
                <a:latin typeface="Helvetica Neue"/>
              </a:rPr>
              <a:t>VERY WEAK  ·  FAIR DATA</a:t>
            </a:r>
          </a:p>
        </p:txBody>
      </p:sp>
      <p:sp>
        <p:nvSpPr>
          <p:cNvPr id="12" name="Rounded Rectangle 11"/>
          <p:cNvSpPr/>
          <p:nvPr/>
        </p:nvSpPr>
        <p:spPr>
          <a:xfrm>
            <a:off x="7982712" y="2286000"/>
            <a:ext cx="3401568" cy="16002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57032" y="2514600"/>
            <a:ext cx="2852928" cy="365760"/>
          </a:xfrm>
          <a:prstGeom prst="rect">
            <a:avLst/>
          </a:prstGeom>
          <a:noFill/>
        </p:spPr>
        <p:txBody>
          <a:bodyPr wrap="square" lIns="0" rIns="0" tIns="0" bIns="0">
            <a:spAutoFit/>
          </a:bodyPr>
          <a:lstStyle/>
          <a:p>
            <a:pPr algn="l">
              <a:lnSpc>
                <a:spcPct val="125000"/>
              </a:lnSpc>
            </a:pPr>
            <a:r>
              <a:rPr sz="1700" b="1">
                <a:solidFill>
                  <a:srgbClr val="FFFFFF"/>
                </a:solidFill>
                <a:latin typeface="Helvetica Neue"/>
              </a:rPr>
              <a:t>Industry / Power</a:t>
            </a:r>
          </a:p>
        </p:txBody>
      </p:sp>
      <p:sp>
        <p:nvSpPr>
          <p:cNvPr id="14" name="TextBox 13"/>
          <p:cNvSpPr txBox="1"/>
          <p:nvPr/>
        </p:nvSpPr>
        <p:spPr>
          <a:xfrm>
            <a:off x="8257032" y="2971800"/>
            <a:ext cx="2852928" cy="365760"/>
          </a:xfrm>
          <a:prstGeom prst="rect">
            <a:avLst/>
          </a:prstGeom>
          <a:noFill/>
        </p:spPr>
        <p:txBody>
          <a:bodyPr wrap="square" lIns="0" rIns="0" tIns="0" bIns="0">
            <a:spAutoFit/>
          </a:bodyPr>
          <a:lstStyle/>
          <a:p>
            <a:pPr algn="l">
              <a:lnSpc>
                <a:spcPct val="125000"/>
              </a:lnSpc>
            </a:pPr>
            <a:r>
              <a:rPr sz="2000" b="0">
                <a:solidFill>
                  <a:srgbClr val="EAB308"/>
                </a:solidFill>
                <a:latin typeface="Menlo"/>
              </a:rPr>
              <a:t>★☆☆☆☆</a:t>
            </a:r>
          </a:p>
        </p:txBody>
      </p:sp>
      <p:sp>
        <p:nvSpPr>
          <p:cNvPr id="15" name="TextBox 14"/>
          <p:cNvSpPr txBox="1"/>
          <p:nvPr/>
        </p:nvSpPr>
        <p:spPr>
          <a:xfrm>
            <a:off x="8257032" y="3429000"/>
            <a:ext cx="2852928" cy="274320"/>
          </a:xfrm>
          <a:prstGeom prst="rect">
            <a:avLst/>
          </a:prstGeom>
          <a:noFill/>
        </p:spPr>
        <p:txBody>
          <a:bodyPr wrap="square" lIns="0" rIns="0" tIns="0" bIns="0">
            <a:spAutoFit/>
          </a:bodyPr>
          <a:lstStyle/>
          <a:p>
            <a:pPr algn="l">
              <a:lnSpc>
                <a:spcPct val="125000"/>
              </a:lnSpc>
            </a:pPr>
            <a:r>
              <a:rPr sz="950" b="1" spc="120">
                <a:solidFill>
                  <a:srgbClr val="71717A"/>
                </a:solidFill>
                <a:latin typeface="Helvetica Neue"/>
              </a:rPr>
              <a:t>VERY WEAK  ·  POOR DATA</a:t>
            </a:r>
          </a:p>
        </p:txBody>
      </p:sp>
      <p:sp>
        <p:nvSpPr>
          <p:cNvPr id="16" name="TextBox 15"/>
          <p:cNvSpPr txBox="1"/>
          <p:nvPr/>
        </p:nvSpPr>
        <p:spPr>
          <a:xfrm>
            <a:off x="777240" y="3977639"/>
            <a:ext cx="10607040" cy="274320"/>
          </a:xfrm>
          <a:prstGeom prst="rect">
            <a:avLst/>
          </a:prstGeom>
          <a:noFill/>
        </p:spPr>
        <p:txBody>
          <a:bodyPr wrap="square" lIns="0" rIns="0" tIns="0" bIns="0">
            <a:spAutoFit/>
          </a:bodyPr>
          <a:lstStyle/>
          <a:p>
            <a:pPr algn="l">
              <a:lnSpc>
                <a:spcPct val="125000"/>
              </a:lnSpc>
            </a:pPr>
            <a:r>
              <a:rPr sz="1050" b="0">
                <a:solidFill>
                  <a:srgbClr val="52525B"/>
                </a:solidFill>
                <a:latin typeface="Helvetica Neue"/>
              </a:rPr>
              <a:t>Actual output for the Diwali 2019 worked example.</a:t>
            </a:r>
          </a:p>
        </p:txBody>
      </p:sp>
      <p:sp>
        <p:nvSpPr>
          <p:cNvPr id="17" name="TextBox 16"/>
          <p:cNvSpPr txBox="1"/>
          <p:nvPr/>
        </p:nvSpPr>
        <p:spPr>
          <a:xfrm>
            <a:off x="777240" y="4434840"/>
            <a:ext cx="3108960" cy="274320"/>
          </a:xfrm>
          <a:prstGeom prst="rect">
            <a:avLst/>
          </a:prstGeom>
          <a:noFill/>
        </p:spPr>
        <p:txBody>
          <a:bodyPr wrap="square" lIns="0" rIns="0" tIns="0" bIns="0">
            <a:spAutoFit/>
          </a:bodyPr>
          <a:lstStyle/>
          <a:p>
            <a:pPr algn="l">
              <a:lnSpc>
                <a:spcPct val="125000"/>
              </a:lnSpc>
            </a:pPr>
            <a:r>
              <a:rPr sz="950" b="1" spc="160">
                <a:solidFill>
                  <a:srgbClr val="71717A"/>
                </a:solidFill>
                <a:latin typeface="Helvetica Neue"/>
              </a:rPr>
              <a:t>EACH HYPOTHESIS EXPOSES</a:t>
            </a:r>
          </a:p>
        </p:txBody>
      </p:sp>
      <p:sp>
        <p:nvSpPr>
          <p:cNvPr id="18" name="TextBox 17"/>
          <p:cNvSpPr txBox="1"/>
          <p:nvPr/>
        </p:nvSpPr>
        <p:spPr>
          <a:xfrm>
            <a:off x="777240" y="4800600"/>
            <a:ext cx="3474720" cy="292608"/>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Supporting observations</a:t>
            </a:r>
          </a:p>
        </p:txBody>
      </p:sp>
      <p:sp>
        <p:nvSpPr>
          <p:cNvPr id="19" name="TextBox 18"/>
          <p:cNvSpPr txBox="1"/>
          <p:nvPr/>
        </p:nvSpPr>
        <p:spPr>
          <a:xfrm>
            <a:off x="4379976" y="4800600"/>
            <a:ext cx="3474720" cy="292608"/>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Contradicting observations</a:t>
            </a:r>
          </a:p>
        </p:txBody>
      </p:sp>
      <p:sp>
        <p:nvSpPr>
          <p:cNvPr id="20" name="TextBox 19"/>
          <p:cNvSpPr txBox="1"/>
          <p:nvPr/>
        </p:nvSpPr>
        <p:spPr>
          <a:xfrm>
            <a:off x="7982712" y="4800600"/>
            <a:ext cx="3474720" cy="292608"/>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Assumptions</a:t>
            </a:r>
          </a:p>
        </p:txBody>
      </p:sp>
      <p:sp>
        <p:nvSpPr>
          <p:cNvPr id="21" name="TextBox 20"/>
          <p:cNvSpPr txBox="1"/>
          <p:nvPr/>
        </p:nvSpPr>
        <p:spPr>
          <a:xfrm>
            <a:off x="777240" y="5129784"/>
            <a:ext cx="3474720" cy="292608"/>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Evidence quality</a:t>
            </a:r>
          </a:p>
        </p:txBody>
      </p:sp>
      <p:sp>
        <p:nvSpPr>
          <p:cNvPr id="22" name="TextBox 21"/>
          <p:cNvSpPr txBox="1"/>
          <p:nvPr/>
        </p:nvSpPr>
        <p:spPr>
          <a:xfrm>
            <a:off x="4379976" y="5129784"/>
            <a:ext cx="3474720" cy="292608"/>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Limitations</a:t>
            </a:r>
          </a:p>
        </p:txBody>
      </p:sp>
      <p:sp>
        <p:nvSpPr>
          <p:cNvPr id="23" name="TextBox 22"/>
          <p:cNvSpPr txBox="1"/>
          <p:nvPr/>
        </p:nvSpPr>
        <p:spPr>
          <a:xfrm>
            <a:off x="7982712" y="5129784"/>
            <a:ext cx="3474720" cy="292608"/>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Historical validation</a:t>
            </a:r>
          </a:p>
        </p:txBody>
      </p:sp>
      <p:sp>
        <p:nvSpPr>
          <p:cNvPr id="24" name="Rounded Rectangle 23"/>
          <p:cNvSpPr/>
          <p:nvPr/>
        </p:nvSpPr>
        <p:spPr>
          <a:xfrm>
            <a:off x="777240" y="5623560"/>
            <a:ext cx="10607040" cy="658368"/>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51560" y="5797296"/>
            <a:ext cx="10058400" cy="457200"/>
          </a:xfrm>
          <a:prstGeom prst="rect">
            <a:avLst/>
          </a:prstGeom>
          <a:noFill/>
        </p:spPr>
        <p:txBody>
          <a:bodyPr wrap="square" lIns="0" rIns="0" tIns="0" bIns="0">
            <a:spAutoFit/>
          </a:bodyPr>
          <a:lstStyle/>
          <a:p>
            <a:pPr algn="l">
              <a:lnSpc>
                <a:spcPct val="130000"/>
              </a:lnSpc>
            </a:pPr>
            <a:r>
              <a:rPr sz="1250" b="0">
                <a:solidFill>
                  <a:srgbClr val="FFFFFF"/>
                </a:solidFill>
                <a:latin typeface="Helvetica Neue"/>
              </a:rPr>
              <a:t>Evidence strengths are independent. They are not probabilities, they do not sum to 100%, and there is no pie chart anywhere in the product.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SCIENTIFIC HONESTY</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900" b="1">
                <a:solidFill>
                  <a:srgbClr val="FFFFFF"/>
                </a:solidFill>
                <a:latin typeface="Helvetica Neue"/>
              </a:rPr>
              <a:t>Our first source classifier hit 98.6% accuracy.</a:t>
            </a:r>
          </a:p>
          <a:p>
            <a:pPr algn="l">
              <a:lnSpc>
                <a:spcPct val="118000"/>
              </a:lnSpc>
            </a:pPr>
            <a:r>
              <a:rPr sz="2900" b="1">
                <a:solidFill>
                  <a:srgbClr val="FFFFFF"/>
                </a:solidFill>
                <a:latin typeface="Helvetica Neue"/>
              </a:rPr>
              <a:t>We deleted it.</a:t>
            </a:r>
          </a:p>
        </p:txBody>
      </p:sp>
      <p:sp>
        <p:nvSpPr>
          <p:cNvPr id="4" name="Rounded Rectangle 3"/>
          <p:cNvSpPr/>
          <p:nvPr/>
        </p:nvSpPr>
        <p:spPr>
          <a:xfrm>
            <a:off x="777240" y="2331720"/>
            <a:ext cx="2286000" cy="65836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2514600"/>
            <a:ext cx="2286000" cy="365760"/>
          </a:xfrm>
          <a:prstGeom prst="rect">
            <a:avLst/>
          </a:prstGeom>
          <a:noFill/>
        </p:spPr>
        <p:txBody>
          <a:bodyPr wrap="square" lIns="0" rIns="0" tIns="0" bIns="0">
            <a:spAutoFit/>
          </a:bodyPr>
          <a:lstStyle/>
          <a:p>
            <a:pPr algn="ctr">
              <a:lnSpc>
                <a:spcPct val="125000"/>
              </a:lnSpc>
            </a:pPr>
            <a:r>
              <a:rPr sz="1300" b="0">
                <a:solidFill>
                  <a:srgbClr val="A1A1AA"/>
                </a:solidFill>
                <a:latin typeface="Helvetica Neue"/>
              </a:rPr>
              <a:t>Features</a:t>
            </a:r>
          </a:p>
        </p:txBody>
      </p:sp>
      <p:sp>
        <p:nvSpPr>
          <p:cNvPr id="6" name="TextBox 5"/>
          <p:cNvSpPr txBox="1"/>
          <p:nvPr/>
        </p:nvSpPr>
        <p:spPr>
          <a:xfrm>
            <a:off x="3136392" y="2514600"/>
            <a:ext cx="274320" cy="274320"/>
          </a:xfrm>
          <a:prstGeom prst="rect">
            <a:avLst/>
          </a:prstGeom>
          <a:noFill/>
        </p:spPr>
        <p:txBody>
          <a:bodyPr wrap="square" lIns="0" rIns="0" tIns="0" bIns="0">
            <a:spAutoFit/>
          </a:bodyPr>
          <a:lstStyle/>
          <a:p>
            <a:pPr algn="l">
              <a:lnSpc>
                <a:spcPct val="125000"/>
              </a:lnSpc>
            </a:pPr>
            <a:r>
              <a:rPr sz="1400" b="0">
                <a:solidFill>
                  <a:srgbClr val="52525B"/>
                </a:solidFill>
                <a:latin typeface="Helvetica Neue"/>
              </a:rPr>
              <a:t>→</a:t>
            </a:r>
          </a:p>
        </p:txBody>
      </p:sp>
      <p:sp>
        <p:nvSpPr>
          <p:cNvPr id="7" name="Rounded Rectangle 6"/>
          <p:cNvSpPr/>
          <p:nvPr/>
        </p:nvSpPr>
        <p:spPr>
          <a:xfrm>
            <a:off x="3447288" y="2331720"/>
            <a:ext cx="2286000" cy="65836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47288" y="2514600"/>
            <a:ext cx="2286000" cy="365760"/>
          </a:xfrm>
          <a:prstGeom prst="rect">
            <a:avLst/>
          </a:prstGeom>
          <a:noFill/>
        </p:spPr>
        <p:txBody>
          <a:bodyPr wrap="square" lIns="0" rIns="0" tIns="0" bIns="0">
            <a:spAutoFit/>
          </a:bodyPr>
          <a:lstStyle/>
          <a:p>
            <a:pPr algn="ctr">
              <a:lnSpc>
                <a:spcPct val="125000"/>
              </a:lnSpc>
            </a:pPr>
            <a:r>
              <a:rPr sz="1300" b="0">
                <a:solidFill>
                  <a:srgbClr val="A1A1AA"/>
                </a:solidFill>
                <a:latin typeface="Helvetica Neue"/>
              </a:rPr>
              <a:t>Rule-generated labels</a:t>
            </a:r>
          </a:p>
        </p:txBody>
      </p:sp>
      <p:sp>
        <p:nvSpPr>
          <p:cNvPr id="9" name="TextBox 8"/>
          <p:cNvSpPr txBox="1"/>
          <p:nvPr/>
        </p:nvSpPr>
        <p:spPr>
          <a:xfrm>
            <a:off x="5806440" y="2514600"/>
            <a:ext cx="274320" cy="274320"/>
          </a:xfrm>
          <a:prstGeom prst="rect">
            <a:avLst/>
          </a:prstGeom>
          <a:noFill/>
        </p:spPr>
        <p:txBody>
          <a:bodyPr wrap="square" lIns="0" rIns="0" tIns="0" bIns="0">
            <a:spAutoFit/>
          </a:bodyPr>
          <a:lstStyle/>
          <a:p>
            <a:pPr algn="l">
              <a:lnSpc>
                <a:spcPct val="125000"/>
              </a:lnSpc>
            </a:pPr>
            <a:r>
              <a:rPr sz="1400" b="0">
                <a:solidFill>
                  <a:srgbClr val="52525B"/>
                </a:solidFill>
                <a:latin typeface="Helvetica Neue"/>
              </a:rPr>
              <a:t>→</a:t>
            </a:r>
          </a:p>
        </p:txBody>
      </p:sp>
      <p:sp>
        <p:nvSpPr>
          <p:cNvPr id="10" name="Rounded Rectangle 9"/>
          <p:cNvSpPr/>
          <p:nvPr/>
        </p:nvSpPr>
        <p:spPr>
          <a:xfrm>
            <a:off x="6117336" y="2331720"/>
            <a:ext cx="2286000" cy="658368"/>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117336" y="2514600"/>
            <a:ext cx="2286000" cy="365760"/>
          </a:xfrm>
          <a:prstGeom prst="rect">
            <a:avLst/>
          </a:prstGeom>
          <a:noFill/>
        </p:spPr>
        <p:txBody>
          <a:bodyPr wrap="square" lIns="0" rIns="0" tIns="0" bIns="0">
            <a:spAutoFit/>
          </a:bodyPr>
          <a:lstStyle/>
          <a:p>
            <a:pPr algn="ctr">
              <a:lnSpc>
                <a:spcPct val="125000"/>
              </a:lnSpc>
            </a:pPr>
            <a:r>
              <a:rPr sz="1300" b="0">
                <a:solidFill>
                  <a:srgbClr val="A1A1AA"/>
                </a:solidFill>
                <a:latin typeface="Helvetica Neue"/>
              </a:rPr>
              <a:t>Random forest</a:t>
            </a:r>
          </a:p>
        </p:txBody>
      </p:sp>
      <p:sp>
        <p:nvSpPr>
          <p:cNvPr id="12" name="TextBox 11"/>
          <p:cNvSpPr txBox="1"/>
          <p:nvPr/>
        </p:nvSpPr>
        <p:spPr>
          <a:xfrm>
            <a:off x="8476488" y="2514600"/>
            <a:ext cx="274320" cy="274320"/>
          </a:xfrm>
          <a:prstGeom prst="rect">
            <a:avLst/>
          </a:prstGeom>
          <a:noFill/>
        </p:spPr>
        <p:txBody>
          <a:bodyPr wrap="square" lIns="0" rIns="0" tIns="0" bIns="0">
            <a:spAutoFit/>
          </a:bodyPr>
          <a:lstStyle/>
          <a:p>
            <a:pPr algn="l">
              <a:lnSpc>
                <a:spcPct val="125000"/>
              </a:lnSpc>
            </a:pPr>
            <a:r>
              <a:rPr sz="1400" b="0">
                <a:solidFill>
                  <a:srgbClr val="52525B"/>
                </a:solidFill>
                <a:latin typeface="Helvetica Neue"/>
              </a:rPr>
              <a:t>→</a:t>
            </a:r>
          </a:p>
        </p:txBody>
      </p:sp>
      <p:sp>
        <p:nvSpPr>
          <p:cNvPr id="13" name="Rounded Rectangle 12"/>
          <p:cNvSpPr/>
          <p:nvPr/>
        </p:nvSpPr>
        <p:spPr>
          <a:xfrm>
            <a:off x="8787384" y="2331720"/>
            <a:ext cx="2286000" cy="658368"/>
          </a:xfrm>
          <a:prstGeom prst="roundRect">
            <a:avLst>
              <a:gd name="adj" fmla="val 3000"/>
            </a:avLst>
          </a:prstGeom>
          <a:solidFill>
            <a:srgbClr val="111111"/>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87384" y="2514600"/>
            <a:ext cx="2286000" cy="365760"/>
          </a:xfrm>
          <a:prstGeom prst="rect">
            <a:avLst/>
          </a:prstGeom>
          <a:noFill/>
        </p:spPr>
        <p:txBody>
          <a:bodyPr wrap="square" lIns="0" rIns="0" tIns="0" bIns="0">
            <a:spAutoFit/>
          </a:bodyPr>
          <a:lstStyle/>
          <a:p>
            <a:pPr algn="ctr">
              <a:lnSpc>
                <a:spcPct val="125000"/>
              </a:lnSpc>
            </a:pPr>
            <a:r>
              <a:rPr sz="1300" b="1">
                <a:solidFill>
                  <a:srgbClr val="EF4444"/>
                </a:solidFill>
                <a:latin typeface="Helvetica Neue"/>
              </a:rPr>
              <a:t>98.6% accuracy</a:t>
            </a:r>
          </a:p>
        </p:txBody>
      </p:sp>
      <p:sp>
        <p:nvSpPr>
          <p:cNvPr id="15" name="TextBox 14"/>
          <p:cNvSpPr txBox="1"/>
          <p:nvPr/>
        </p:nvSpPr>
        <p:spPr>
          <a:xfrm>
            <a:off x="777240" y="3200400"/>
            <a:ext cx="10607040" cy="365760"/>
          </a:xfrm>
          <a:prstGeom prst="rect">
            <a:avLst/>
          </a:prstGeom>
          <a:noFill/>
        </p:spPr>
        <p:txBody>
          <a:bodyPr wrap="square" lIns="0" rIns="0" tIns="0" bIns="0">
            <a:spAutoFit/>
          </a:bodyPr>
          <a:lstStyle/>
          <a:p>
            <a:pPr algn="l">
              <a:lnSpc>
                <a:spcPct val="125000"/>
              </a:lnSpc>
            </a:pPr>
            <a:r>
              <a:rPr sz="1700" b="1">
                <a:solidFill>
                  <a:srgbClr val="FFFFFF"/>
                </a:solidFill>
                <a:latin typeface="Helvetica Neue"/>
              </a:rPr>
              <a:t>The model had learned the labelling rule, not the atmosphere.</a:t>
            </a:r>
          </a:p>
        </p:txBody>
      </p:sp>
      <p:sp>
        <p:nvSpPr>
          <p:cNvPr id="16" name="TextBox 15"/>
          <p:cNvSpPr txBox="1"/>
          <p:nvPr/>
        </p:nvSpPr>
        <p:spPr>
          <a:xfrm>
            <a:off x="777240" y="3657600"/>
            <a:ext cx="10607040" cy="822960"/>
          </a:xfrm>
          <a:prstGeom prst="rect">
            <a:avLst/>
          </a:prstGeom>
          <a:noFill/>
        </p:spPr>
        <p:txBody>
          <a:bodyPr wrap="square" lIns="0" rIns="0" tIns="0" bIns="0">
            <a:spAutoFit/>
          </a:bodyPr>
          <a:lstStyle/>
          <a:p>
            <a:pPr algn="l">
              <a:lnSpc>
                <a:spcPct val="145000"/>
              </a:lnSpc>
            </a:pPr>
            <a:r>
              <a:rPr sz="1250" b="0">
                <a:solidFill>
                  <a:srgbClr val="A1A1AA"/>
                </a:solidFill>
                <a:latin typeface="Helvetica Neue"/>
              </a:rPr>
              <a:t>No labelled dataset of pollution source exists for Delhi, because producing one would itself require apportionment. The only labels available were ones we invented from a rule over our own features. Training on that reproduces the rule.</a:t>
            </a:r>
          </a:p>
        </p:txBody>
      </p:sp>
      <p:sp>
        <p:nvSpPr>
          <p:cNvPr id="17" name="TextBox 16"/>
          <p:cNvSpPr txBox="1"/>
          <p:nvPr/>
        </p:nvSpPr>
        <p:spPr>
          <a:xfrm>
            <a:off x="777240" y="4526280"/>
            <a:ext cx="10607040" cy="274320"/>
          </a:xfrm>
          <a:prstGeom prst="rect">
            <a:avLst/>
          </a:prstGeom>
          <a:noFill/>
        </p:spPr>
        <p:txBody>
          <a:bodyPr wrap="square" lIns="0" rIns="0" tIns="0" bIns="0">
            <a:spAutoFit/>
          </a:bodyPr>
          <a:lstStyle/>
          <a:p>
            <a:pPr algn="l">
              <a:lnSpc>
                <a:spcPct val="125000"/>
              </a:lnSpc>
            </a:pPr>
            <a:r>
              <a:rPr sz="1100" b="0">
                <a:solidFill>
                  <a:srgbClr val="52525B"/>
                </a:solidFill>
                <a:latin typeface="Menlo"/>
              </a:rPr>
              <a:t>13,685 real station-hours · 5-fold CV · accuracy 0.9859 ± 0.0035 · macro F1 0.9851</a:t>
            </a:r>
          </a:p>
        </p:txBody>
      </p:sp>
      <p:sp>
        <p:nvSpPr>
          <p:cNvPr id="18" name="Rounded Rectangle 17"/>
          <p:cNvSpPr/>
          <p:nvPr/>
        </p:nvSpPr>
        <p:spPr>
          <a:xfrm>
            <a:off x="777240" y="4983480"/>
            <a:ext cx="5120640" cy="777240"/>
          </a:xfrm>
          <a:prstGeom prst="roundRect">
            <a:avLst>
              <a:gd name="adj" fmla="val 3000"/>
            </a:avLst>
          </a:prstGeom>
          <a:solidFill>
            <a:srgbClr val="0A0A0A"/>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51560" y="5120640"/>
            <a:ext cx="4572000" cy="256032"/>
          </a:xfrm>
          <a:prstGeom prst="rect">
            <a:avLst/>
          </a:prstGeom>
          <a:noFill/>
        </p:spPr>
        <p:txBody>
          <a:bodyPr wrap="square" lIns="0" rIns="0" tIns="0" bIns="0">
            <a:spAutoFit/>
          </a:bodyPr>
          <a:lstStyle/>
          <a:p>
            <a:pPr algn="l">
              <a:lnSpc>
                <a:spcPct val="125000"/>
              </a:lnSpc>
            </a:pPr>
            <a:r>
              <a:rPr sz="950" b="1" spc="160">
                <a:solidFill>
                  <a:srgbClr val="EF4444"/>
                </a:solidFill>
                <a:latin typeface="Helvetica Neue"/>
              </a:rPr>
              <a:t>WE REJECTED</a:t>
            </a:r>
          </a:p>
        </p:txBody>
      </p:sp>
      <p:sp>
        <p:nvSpPr>
          <p:cNvPr id="20" name="TextBox 19"/>
          <p:cNvSpPr txBox="1"/>
          <p:nvPr/>
        </p:nvSpPr>
        <p:spPr>
          <a:xfrm>
            <a:off x="1051560" y="5394960"/>
            <a:ext cx="4572000" cy="27432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Fabricated source accuracy</a:t>
            </a:r>
          </a:p>
        </p:txBody>
      </p:sp>
      <p:sp>
        <p:nvSpPr>
          <p:cNvPr id="21" name="Rounded Rectangle 20"/>
          <p:cNvSpPr/>
          <p:nvPr/>
        </p:nvSpPr>
        <p:spPr>
          <a:xfrm>
            <a:off x="6263640" y="4983480"/>
            <a:ext cx="5120640" cy="777240"/>
          </a:xfrm>
          <a:prstGeom prst="roundRect">
            <a:avLst>
              <a:gd name="adj" fmla="val 3000"/>
            </a:avLst>
          </a:prstGeom>
          <a:solidFill>
            <a:srgbClr val="0A0A0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37960" y="5120640"/>
            <a:ext cx="4572000" cy="256032"/>
          </a:xfrm>
          <a:prstGeom prst="rect">
            <a:avLst/>
          </a:prstGeom>
          <a:noFill/>
        </p:spPr>
        <p:txBody>
          <a:bodyPr wrap="square" lIns="0" rIns="0" tIns="0" bIns="0">
            <a:spAutoFit/>
          </a:bodyPr>
          <a:lstStyle/>
          <a:p>
            <a:pPr algn="l">
              <a:lnSpc>
                <a:spcPct val="125000"/>
              </a:lnSpc>
            </a:pPr>
            <a:r>
              <a:rPr sz="950" b="1" spc="160">
                <a:solidFill>
                  <a:srgbClr val="22C55E"/>
                </a:solidFill>
                <a:latin typeface="Helvetica Neue"/>
              </a:rPr>
              <a:t>WE BUILT</a:t>
            </a:r>
          </a:p>
        </p:txBody>
      </p:sp>
      <p:sp>
        <p:nvSpPr>
          <p:cNvPr id="23" name="TextBox 22"/>
          <p:cNvSpPr txBox="1"/>
          <p:nvPr/>
        </p:nvSpPr>
        <p:spPr>
          <a:xfrm>
            <a:off x="6537960" y="5394960"/>
            <a:ext cx="4572000" cy="274320"/>
          </a:xfrm>
          <a:prstGeom prst="rect">
            <a:avLst/>
          </a:prstGeom>
          <a:noFill/>
        </p:spPr>
        <p:txBody>
          <a:bodyPr wrap="square" lIns="0" rIns="0" tIns="0" bIns="0">
            <a:spAutoFit/>
          </a:bodyPr>
          <a:lstStyle/>
          <a:p>
            <a:pPr algn="l">
              <a:lnSpc>
                <a:spcPct val="125000"/>
              </a:lnSpc>
            </a:pPr>
            <a:r>
              <a:rPr sz="1400" b="0">
                <a:solidFill>
                  <a:srgbClr val="FFFFFF"/>
                </a:solidFill>
                <a:latin typeface="Helvetica Neue"/>
              </a:rPr>
              <a:t>Evidence-based hypothesis screening</a:t>
            </a:r>
          </a:p>
        </p:txBody>
      </p:sp>
      <p:sp>
        <p:nvSpPr>
          <p:cNvPr id="24" name="TextBox 23"/>
          <p:cNvSpPr txBox="1"/>
          <p:nvPr/>
        </p:nvSpPr>
        <p:spPr>
          <a:xfrm>
            <a:off x="777240" y="6035040"/>
            <a:ext cx="10607040" cy="365760"/>
          </a:xfrm>
          <a:prstGeom prst="rect">
            <a:avLst/>
          </a:prstGeom>
          <a:noFill/>
        </p:spPr>
        <p:txBody>
          <a:bodyPr wrap="square" lIns="0" rIns="0" tIns="0" bIns="0">
            <a:spAutoFit/>
          </a:bodyPr>
          <a:lstStyle/>
          <a:p>
            <a:pPr algn="l">
              <a:lnSpc>
                <a:spcPct val="125000"/>
              </a:lnSpc>
            </a:pPr>
            <a:r>
              <a:rPr sz="1400" b="1">
                <a:solidFill>
                  <a:srgbClr val="EAB308"/>
                </a:solidFill>
                <a:latin typeface="Helvetica Neue"/>
              </a:rPr>
              <a:t>Statistical machinery cannot manufacture ground truth that does not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HISTORICAL VALIDATION</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800" b="1">
                <a:solidFill>
                  <a:srgbClr val="FFFFFF"/>
                </a:solidFill>
                <a:latin typeface="Helvetica Neue"/>
              </a:rPr>
              <a:t>Each module declares the intervention that would reject it.</a:t>
            </a:r>
          </a:p>
        </p:txBody>
      </p:sp>
      <p:sp>
        <p:nvSpPr>
          <p:cNvPr id="4" name="Rounded Rectangle 3"/>
          <p:cNvSpPr/>
          <p:nvPr/>
        </p:nvSpPr>
        <p:spPr>
          <a:xfrm>
            <a:off x="777240" y="1965960"/>
            <a:ext cx="10607040" cy="1170432"/>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77240" y="1965960"/>
            <a:ext cx="45720" cy="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65960"/>
            <a:ext cx="30000" cy="117043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48840"/>
            <a:ext cx="3108960" cy="365760"/>
          </a:xfrm>
          <a:prstGeom prst="rect">
            <a:avLst/>
          </a:prstGeom>
          <a:noFill/>
        </p:spPr>
        <p:txBody>
          <a:bodyPr wrap="square" lIns="0" rIns="0" tIns="0" bIns="0">
            <a:spAutoFit/>
          </a:bodyPr>
          <a:lstStyle/>
          <a:p>
            <a:pPr algn="l">
              <a:lnSpc>
                <a:spcPct val="125000"/>
              </a:lnSpc>
            </a:pPr>
            <a:r>
              <a:rPr sz="1600" b="1">
                <a:solidFill>
                  <a:srgbClr val="FFFFFF"/>
                </a:solidFill>
                <a:latin typeface="Helvetica Neue"/>
              </a:rPr>
              <a:t>COVID lockdown 2020</a:t>
            </a:r>
          </a:p>
        </p:txBody>
      </p:sp>
      <p:sp>
        <p:nvSpPr>
          <p:cNvPr id="8" name="TextBox 7"/>
          <p:cNvSpPr txBox="1"/>
          <p:nvPr/>
        </p:nvSpPr>
        <p:spPr>
          <a:xfrm>
            <a:off x="1097280" y="2532888"/>
            <a:ext cx="3108960" cy="274320"/>
          </a:xfrm>
          <a:prstGeom prst="rect">
            <a:avLst/>
          </a:prstGeom>
          <a:noFill/>
        </p:spPr>
        <p:txBody>
          <a:bodyPr wrap="square" lIns="0" rIns="0" tIns="0" bIns="0">
            <a:spAutoFit/>
          </a:bodyPr>
          <a:lstStyle/>
          <a:p>
            <a:pPr algn="l">
              <a:lnSpc>
                <a:spcPct val="125000"/>
              </a:lnSpc>
            </a:pPr>
            <a:r>
              <a:rPr sz="950" b="1" spc="140">
                <a:solidFill>
                  <a:srgbClr val="52525B"/>
                </a:solidFill>
                <a:latin typeface="Helvetica Neue"/>
              </a:rPr>
              <a:t>TRAFFIC MODULE</a:t>
            </a:r>
          </a:p>
        </p:txBody>
      </p:sp>
      <p:sp>
        <p:nvSpPr>
          <p:cNvPr id="9" name="TextBox 8"/>
          <p:cNvSpPr txBox="1"/>
          <p:nvPr/>
        </p:nvSpPr>
        <p:spPr>
          <a:xfrm>
            <a:off x="4389120" y="2167128"/>
            <a:ext cx="3108960" cy="274320"/>
          </a:xfrm>
          <a:prstGeom prst="rect">
            <a:avLst/>
          </a:prstGeom>
          <a:noFill/>
        </p:spPr>
        <p:txBody>
          <a:bodyPr wrap="square" lIns="0" rIns="0" tIns="0" bIns="0">
            <a:spAutoFit/>
          </a:bodyPr>
          <a:lstStyle/>
          <a:p>
            <a:pPr algn="l">
              <a:lnSpc>
                <a:spcPct val="125000"/>
              </a:lnSpc>
            </a:pPr>
            <a:r>
              <a:rPr sz="1050" b="1" spc="140">
                <a:solidFill>
                  <a:srgbClr val="22C55E"/>
                </a:solidFill>
                <a:latin typeface="Helvetica Neue"/>
              </a:rPr>
              <a:t>ACCEPTED</a:t>
            </a:r>
          </a:p>
        </p:txBody>
      </p:sp>
      <p:sp>
        <p:nvSpPr>
          <p:cNvPr id="10" name="TextBox 9"/>
          <p:cNvSpPr txBox="1"/>
          <p:nvPr/>
        </p:nvSpPr>
        <p:spPr>
          <a:xfrm>
            <a:off x="4389120" y="2514600"/>
            <a:ext cx="6675120" cy="548640"/>
          </a:xfrm>
          <a:prstGeom prst="rect">
            <a:avLst/>
          </a:prstGeom>
          <a:noFill/>
        </p:spPr>
        <p:txBody>
          <a:bodyPr wrap="square" lIns="0" rIns="0" tIns="0" bIns="0">
            <a:spAutoFit/>
          </a:bodyPr>
          <a:lstStyle/>
          <a:p>
            <a:pPr algn="l">
              <a:lnSpc>
                <a:spcPct val="135000"/>
              </a:lnSpc>
            </a:pPr>
            <a:r>
              <a:rPr sz="1150" b="0">
                <a:solidFill>
                  <a:srgbClr val="A1A1AA"/>
                </a:solidFill>
                <a:latin typeface="Helvetica Neue"/>
              </a:rPr>
              <a:t>47 stations · 901,160 rows.  NO₂ −54.4%, SO₂ −3.7%.  NO₂/SO₂ ratio 2.82 → 1.34.  Likelihood ratio 2.11 (weak).</a:t>
            </a:r>
          </a:p>
        </p:txBody>
      </p:sp>
      <p:sp>
        <p:nvSpPr>
          <p:cNvPr id="11" name="Rounded Rectangle 10"/>
          <p:cNvSpPr/>
          <p:nvPr/>
        </p:nvSpPr>
        <p:spPr>
          <a:xfrm>
            <a:off x="777240" y="3282696"/>
            <a:ext cx="10607040" cy="1170432"/>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282696"/>
            <a:ext cx="45720" cy="0"/>
          </a:xfrm>
          <a:prstGeom prst="rect">
            <a:avLst/>
          </a:prstGeom>
          <a:solidFill>
            <a:srgbClr val="717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82696"/>
            <a:ext cx="30000" cy="1170432"/>
          </a:xfrm>
          <a:prstGeom prst="rect">
            <a:avLst/>
          </a:prstGeom>
          <a:solidFill>
            <a:srgbClr val="717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465576"/>
            <a:ext cx="3108960" cy="365760"/>
          </a:xfrm>
          <a:prstGeom prst="rect">
            <a:avLst/>
          </a:prstGeom>
          <a:noFill/>
        </p:spPr>
        <p:txBody>
          <a:bodyPr wrap="square" lIns="0" rIns="0" tIns="0" bIns="0">
            <a:spAutoFit/>
          </a:bodyPr>
          <a:lstStyle/>
          <a:p>
            <a:pPr algn="l">
              <a:lnSpc>
                <a:spcPct val="125000"/>
              </a:lnSpc>
            </a:pPr>
            <a:r>
              <a:rPr sz="1600" b="1">
                <a:solidFill>
                  <a:srgbClr val="FFFFFF"/>
                </a:solidFill>
                <a:latin typeface="Helvetica Neue"/>
              </a:rPr>
              <a:t>Diwali 2019</a:t>
            </a:r>
          </a:p>
        </p:txBody>
      </p:sp>
      <p:sp>
        <p:nvSpPr>
          <p:cNvPr id="15" name="TextBox 14"/>
          <p:cNvSpPr txBox="1"/>
          <p:nvPr/>
        </p:nvSpPr>
        <p:spPr>
          <a:xfrm>
            <a:off x="1097280" y="3849624"/>
            <a:ext cx="3108960" cy="274320"/>
          </a:xfrm>
          <a:prstGeom prst="rect">
            <a:avLst/>
          </a:prstGeom>
          <a:noFill/>
        </p:spPr>
        <p:txBody>
          <a:bodyPr wrap="square" lIns="0" rIns="0" tIns="0" bIns="0">
            <a:spAutoFit/>
          </a:bodyPr>
          <a:lstStyle/>
          <a:p>
            <a:pPr algn="l">
              <a:lnSpc>
                <a:spcPct val="125000"/>
              </a:lnSpc>
            </a:pPr>
            <a:r>
              <a:rPr sz="950" b="1" spc="140">
                <a:solidFill>
                  <a:srgbClr val="52525B"/>
                </a:solidFill>
                <a:latin typeface="Helvetica Neue"/>
              </a:rPr>
              <a:t>FIRE DISCRIMINANT VALIDITY</a:t>
            </a:r>
          </a:p>
        </p:txBody>
      </p:sp>
      <p:sp>
        <p:nvSpPr>
          <p:cNvPr id="16" name="TextBox 15"/>
          <p:cNvSpPr txBox="1"/>
          <p:nvPr/>
        </p:nvSpPr>
        <p:spPr>
          <a:xfrm>
            <a:off x="4389120" y="3483864"/>
            <a:ext cx="3108960" cy="274320"/>
          </a:xfrm>
          <a:prstGeom prst="rect">
            <a:avLst/>
          </a:prstGeom>
          <a:noFill/>
        </p:spPr>
        <p:txBody>
          <a:bodyPr wrap="square" lIns="0" rIns="0" tIns="0" bIns="0">
            <a:spAutoFit/>
          </a:bodyPr>
          <a:lstStyle/>
          <a:p>
            <a:pPr algn="l">
              <a:lnSpc>
                <a:spcPct val="125000"/>
              </a:lnSpc>
            </a:pPr>
            <a:r>
              <a:rPr sz="1050" b="1" spc="140">
                <a:solidFill>
                  <a:srgbClr val="71717A"/>
                </a:solidFill>
                <a:latin typeface="Helvetica Neue"/>
              </a:rPr>
              <a:t>PENDING</a:t>
            </a:r>
          </a:p>
        </p:txBody>
      </p:sp>
      <p:sp>
        <p:nvSpPr>
          <p:cNvPr id="17" name="TextBox 16"/>
          <p:cNvSpPr txBox="1"/>
          <p:nvPr/>
        </p:nvSpPr>
        <p:spPr>
          <a:xfrm>
            <a:off x="4389120" y="3831336"/>
            <a:ext cx="6675120" cy="548640"/>
          </a:xfrm>
          <a:prstGeom prst="rect">
            <a:avLst/>
          </a:prstGeom>
          <a:noFill/>
        </p:spPr>
        <p:txBody>
          <a:bodyPr wrap="square" lIns="0" rIns="0" tIns="0" bIns="0">
            <a:spAutoFit/>
          </a:bodyPr>
          <a:lstStyle/>
          <a:p>
            <a:pPr algn="l">
              <a:lnSpc>
                <a:spcPct val="135000"/>
              </a:lnSpc>
            </a:pPr>
            <a:r>
              <a:rPr sz="1150" b="0">
                <a:solidFill>
                  <a:srgbClr val="A1A1AA"/>
                </a:solidFill>
                <a:latin typeface="Helvetica Neue"/>
              </a:rPr>
              <a:t>1,604 VIIRS detections that day, so the confound is real. VIIRS overpasses Delhi 12:00–14:00 and 01:00–03:00 IST, outside the firework window. Structural argument, not yet a result.</a:t>
            </a:r>
          </a:p>
        </p:txBody>
      </p:sp>
      <p:sp>
        <p:nvSpPr>
          <p:cNvPr id="18" name="Rounded Rectangle 17"/>
          <p:cNvSpPr/>
          <p:nvPr/>
        </p:nvSpPr>
        <p:spPr>
          <a:xfrm>
            <a:off x="777240" y="4599432"/>
            <a:ext cx="10607040" cy="1170432"/>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599432"/>
            <a:ext cx="45720" cy="0"/>
          </a:xfrm>
          <a:prstGeom prst="rect">
            <a:avLst/>
          </a:prstGeom>
          <a:solidFill>
            <a:srgbClr val="717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599432"/>
            <a:ext cx="30000" cy="1170432"/>
          </a:xfrm>
          <a:prstGeom prst="rect">
            <a:avLst/>
          </a:prstGeom>
          <a:solidFill>
            <a:srgbClr val="717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782312"/>
            <a:ext cx="3108960" cy="365760"/>
          </a:xfrm>
          <a:prstGeom prst="rect">
            <a:avLst/>
          </a:prstGeom>
          <a:noFill/>
        </p:spPr>
        <p:txBody>
          <a:bodyPr wrap="square" lIns="0" rIns="0" tIns="0" bIns="0">
            <a:spAutoFit/>
          </a:bodyPr>
          <a:lstStyle/>
          <a:p>
            <a:pPr algn="l">
              <a:lnSpc>
                <a:spcPct val="125000"/>
              </a:lnSpc>
            </a:pPr>
            <a:r>
              <a:rPr sz="1600" b="1">
                <a:solidFill>
                  <a:srgbClr val="FFFFFF"/>
                </a:solidFill>
                <a:latin typeface="Helvetica Neue"/>
              </a:rPr>
              <a:t>Odd-Even II, Apr 2016</a:t>
            </a:r>
          </a:p>
        </p:txBody>
      </p:sp>
      <p:sp>
        <p:nvSpPr>
          <p:cNvPr id="22" name="TextBox 21"/>
          <p:cNvSpPr txBox="1"/>
          <p:nvPr/>
        </p:nvSpPr>
        <p:spPr>
          <a:xfrm>
            <a:off x="1097280" y="5166360"/>
            <a:ext cx="3108960" cy="274320"/>
          </a:xfrm>
          <a:prstGeom prst="rect">
            <a:avLst/>
          </a:prstGeom>
          <a:noFill/>
        </p:spPr>
        <p:txBody>
          <a:bodyPr wrap="square" lIns="0" rIns="0" tIns="0" bIns="0">
            <a:spAutoFit/>
          </a:bodyPr>
          <a:lstStyle/>
          <a:p>
            <a:pPr algn="l">
              <a:lnSpc>
                <a:spcPct val="125000"/>
              </a:lnSpc>
            </a:pPr>
            <a:r>
              <a:rPr sz="950" b="1" spc="140">
                <a:solidFill>
                  <a:srgbClr val="52525B"/>
                </a:solidFill>
                <a:latin typeface="Helvetica Neue"/>
              </a:rPr>
              <a:t>VEHICULAR</a:t>
            </a:r>
          </a:p>
        </p:txBody>
      </p:sp>
      <p:sp>
        <p:nvSpPr>
          <p:cNvPr id="23" name="TextBox 22"/>
          <p:cNvSpPr txBox="1"/>
          <p:nvPr/>
        </p:nvSpPr>
        <p:spPr>
          <a:xfrm>
            <a:off x="4389120" y="4800600"/>
            <a:ext cx="3108960" cy="274320"/>
          </a:xfrm>
          <a:prstGeom prst="rect">
            <a:avLst/>
          </a:prstGeom>
          <a:noFill/>
        </p:spPr>
        <p:txBody>
          <a:bodyPr wrap="square" lIns="0" rIns="0" tIns="0" bIns="0">
            <a:spAutoFit/>
          </a:bodyPr>
          <a:lstStyle/>
          <a:p>
            <a:pPr algn="l">
              <a:lnSpc>
                <a:spcPct val="125000"/>
              </a:lnSpc>
            </a:pPr>
            <a:r>
              <a:rPr sz="1050" b="1" spc="140">
                <a:solidFill>
                  <a:srgbClr val="71717A"/>
                </a:solidFill>
                <a:latin typeface="Helvetica Neue"/>
              </a:rPr>
              <a:t>DATA INGESTED — VALIDATION PENDING</a:t>
            </a:r>
          </a:p>
        </p:txBody>
      </p:sp>
      <p:sp>
        <p:nvSpPr>
          <p:cNvPr id="24" name="TextBox 23"/>
          <p:cNvSpPr txBox="1"/>
          <p:nvPr/>
        </p:nvSpPr>
        <p:spPr>
          <a:xfrm>
            <a:off x="4389120" y="5148072"/>
            <a:ext cx="6675120" cy="548640"/>
          </a:xfrm>
          <a:prstGeom prst="rect">
            <a:avLst/>
          </a:prstGeom>
          <a:noFill/>
        </p:spPr>
        <p:txBody>
          <a:bodyPr wrap="square" lIns="0" rIns="0" tIns="0" bIns="0">
            <a:spAutoFit/>
          </a:bodyPr>
          <a:lstStyle/>
          <a:p>
            <a:pPr algn="l">
              <a:lnSpc>
                <a:spcPct val="135000"/>
              </a:lnSpc>
            </a:pPr>
            <a:r>
              <a:rPr sz="1150" b="0">
                <a:solidFill>
                  <a:srgbClr val="A1A1AA"/>
                </a:solidFill>
                <a:latin typeface="Helvetica Neue"/>
              </a:rPr>
              <a:t>The only unconfounded vehicle window in the record: no stubble, no winter inversion. Weak treatment on few stations.</a:t>
            </a:r>
          </a:p>
        </p:txBody>
      </p:sp>
      <p:sp>
        <p:nvSpPr>
          <p:cNvPr id="25" name="Rounded Rectangle 24"/>
          <p:cNvSpPr/>
          <p:nvPr/>
        </p:nvSpPr>
        <p:spPr>
          <a:xfrm>
            <a:off x="777240" y="5806440"/>
            <a:ext cx="10607040" cy="658368"/>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980176"/>
            <a:ext cx="10058400" cy="457200"/>
          </a:xfrm>
          <a:prstGeom prst="rect">
            <a:avLst/>
          </a:prstGeom>
          <a:noFill/>
        </p:spPr>
        <p:txBody>
          <a:bodyPr wrap="square" lIns="0" rIns="0" tIns="0" bIns="0">
            <a:spAutoFit/>
          </a:bodyPr>
          <a:lstStyle/>
          <a:p>
            <a:pPr algn="l">
              <a:lnSpc>
                <a:spcPct val="130000"/>
              </a:lnSpc>
            </a:pPr>
            <a:r>
              <a:rPr sz="1250" b="0">
                <a:solidFill>
                  <a:srgbClr val="FFFFFF"/>
                </a:solidFill>
                <a:latin typeface="Helvetica Neue"/>
              </a:rPr>
              <a:t>One test has been run to completion. The engine reports the rest as pending at /evidence/history, and the console shows them as pending.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FROM EVIDENCE TO ACTION</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800" b="1">
                <a:solidFill>
                  <a:srgbClr val="FFFFFF"/>
                </a:solidFill>
                <a:latin typeface="Helvetica Neue"/>
              </a:rPr>
              <a:t>Every recommendation has to earn its way in.</a:t>
            </a:r>
          </a:p>
        </p:txBody>
      </p:sp>
      <p:sp>
        <p:nvSpPr>
          <p:cNvPr id="4" name="TextBox 3"/>
          <p:cNvSpPr txBox="1"/>
          <p:nvPr/>
        </p:nvSpPr>
        <p:spPr>
          <a:xfrm>
            <a:off x="777240" y="2148840"/>
            <a:ext cx="2395728" cy="274320"/>
          </a:xfrm>
          <a:prstGeom prst="rect">
            <a:avLst/>
          </a:prstGeom>
          <a:noFill/>
        </p:spPr>
        <p:txBody>
          <a:bodyPr wrap="square" lIns="0" rIns="0" tIns="0" bIns="0">
            <a:spAutoFit/>
          </a:bodyPr>
          <a:lstStyle/>
          <a:p>
            <a:pPr algn="ctr">
              <a:lnSpc>
                <a:spcPct val="125000"/>
              </a:lnSpc>
            </a:pPr>
            <a:r>
              <a:rPr sz="950" b="1" spc="180">
                <a:solidFill>
                  <a:srgbClr val="71717A"/>
                </a:solidFill>
                <a:latin typeface="Helvetica Neue"/>
              </a:rPr>
              <a:t>EVIDENCE</a:t>
            </a:r>
          </a:p>
        </p:txBody>
      </p:sp>
      <p:sp>
        <p:nvSpPr>
          <p:cNvPr id="5" name="Rounded Rectangle 4"/>
          <p:cNvSpPr/>
          <p:nvPr/>
        </p:nvSpPr>
        <p:spPr>
          <a:xfrm>
            <a:off x="777240" y="2514600"/>
            <a:ext cx="2395728" cy="13716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2788920"/>
            <a:ext cx="2029968" cy="914400"/>
          </a:xfrm>
          <a:prstGeom prst="rect">
            <a:avLst/>
          </a:prstGeom>
          <a:noFill/>
        </p:spPr>
        <p:txBody>
          <a:bodyPr wrap="square" lIns="0" rIns="0" tIns="0" bIns="0" anchor="ctr">
            <a:spAutoFit/>
          </a:bodyPr>
          <a:lstStyle/>
          <a:p>
            <a:pPr algn="ctr">
              <a:lnSpc>
                <a:spcPct val="130000"/>
              </a:lnSpc>
            </a:pPr>
            <a:r>
              <a:rPr sz="1400" b="1">
                <a:solidFill>
                  <a:srgbClr val="FFFFFF"/>
                </a:solidFill>
                <a:latin typeface="Helvetica Neue"/>
              </a:rPr>
              <a:t>Biomass evidence</a:t>
            </a:r>
          </a:p>
          <a:p>
            <a:pPr algn="ctr">
              <a:lnSpc>
                <a:spcPct val="130000"/>
              </a:lnSpc>
            </a:pPr>
            <a:r>
              <a:rPr sz="1400" b="1">
                <a:solidFill>
                  <a:srgbClr val="FFFFFF"/>
                </a:solidFill>
                <a:latin typeface="Helvetica Neue"/>
              </a:rPr>
              <a:t>MODERATE</a:t>
            </a:r>
          </a:p>
        </p:txBody>
      </p:sp>
      <p:sp>
        <p:nvSpPr>
          <p:cNvPr id="7" name="TextBox 6"/>
          <p:cNvSpPr txBox="1"/>
          <p:nvPr/>
        </p:nvSpPr>
        <p:spPr>
          <a:xfrm>
            <a:off x="3200400" y="3017520"/>
            <a:ext cx="292608" cy="274320"/>
          </a:xfrm>
          <a:prstGeom prst="rect">
            <a:avLst/>
          </a:prstGeom>
          <a:noFill/>
        </p:spPr>
        <p:txBody>
          <a:bodyPr wrap="square" lIns="0" rIns="0" tIns="0" bIns="0">
            <a:spAutoFit/>
          </a:bodyPr>
          <a:lstStyle/>
          <a:p>
            <a:pPr algn="l">
              <a:lnSpc>
                <a:spcPct val="125000"/>
              </a:lnSpc>
            </a:pPr>
            <a:r>
              <a:rPr sz="1500" b="0">
                <a:solidFill>
                  <a:srgbClr val="52525B"/>
                </a:solidFill>
                <a:latin typeface="Helvetica Neue"/>
              </a:rPr>
              <a:t>→</a:t>
            </a:r>
          </a:p>
        </p:txBody>
      </p:sp>
      <p:sp>
        <p:nvSpPr>
          <p:cNvPr id="8" name="TextBox 7"/>
          <p:cNvSpPr txBox="1"/>
          <p:nvPr/>
        </p:nvSpPr>
        <p:spPr>
          <a:xfrm>
            <a:off x="3502152" y="2148840"/>
            <a:ext cx="2395728" cy="274320"/>
          </a:xfrm>
          <a:prstGeom prst="rect">
            <a:avLst/>
          </a:prstGeom>
          <a:noFill/>
        </p:spPr>
        <p:txBody>
          <a:bodyPr wrap="square" lIns="0" rIns="0" tIns="0" bIns="0">
            <a:spAutoFit/>
          </a:bodyPr>
          <a:lstStyle/>
          <a:p>
            <a:pPr algn="ctr">
              <a:lnSpc>
                <a:spcPct val="125000"/>
              </a:lnSpc>
            </a:pPr>
            <a:r>
              <a:rPr sz="950" b="1" spc="180">
                <a:solidFill>
                  <a:srgbClr val="71717A"/>
                </a:solidFill>
                <a:latin typeface="Helvetica Neue"/>
              </a:rPr>
              <a:t>RULE</a:t>
            </a:r>
          </a:p>
        </p:txBody>
      </p:sp>
      <p:sp>
        <p:nvSpPr>
          <p:cNvPr id="9" name="Rounded Rectangle 8"/>
          <p:cNvSpPr/>
          <p:nvPr/>
        </p:nvSpPr>
        <p:spPr>
          <a:xfrm>
            <a:off x="3502152" y="2514600"/>
            <a:ext cx="2395728" cy="13716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85032" y="2788920"/>
            <a:ext cx="2029968" cy="914400"/>
          </a:xfrm>
          <a:prstGeom prst="rect">
            <a:avLst/>
          </a:prstGeom>
          <a:noFill/>
        </p:spPr>
        <p:txBody>
          <a:bodyPr wrap="square" lIns="0" rIns="0" tIns="0" bIns="0" anchor="ctr">
            <a:spAutoFit/>
          </a:bodyPr>
          <a:lstStyle/>
          <a:p>
            <a:pPr algn="ctr">
              <a:lnSpc>
                <a:spcPct val="130000"/>
              </a:lnSpc>
            </a:pPr>
            <a:r>
              <a:rPr sz="1400" b="1">
                <a:solidFill>
                  <a:srgbClr val="FFFFFF"/>
                </a:solidFill>
                <a:latin typeface="Menlo"/>
              </a:rPr>
              <a:t>FIRE_002</a:t>
            </a:r>
          </a:p>
        </p:txBody>
      </p:sp>
      <p:sp>
        <p:nvSpPr>
          <p:cNvPr id="11" name="TextBox 10"/>
          <p:cNvSpPr txBox="1"/>
          <p:nvPr/>
        </p:nvSpPr>
        <p:spPr>
          <a:xfrm>
            <a:off x="5925312" y="3017520"/>
            <a:ext cx="292608" cy="274320"/>
          </a:xfrm>
          <a:prstGeom prst="rect">
            <a:avLst/>
          </a:prstGeom>
          <a:noFill/>
        </p:spPr>
        <p:txBody>
          <a:bodyPr wrap="square" lIns="0" rIns="0" tIns="0" bIns="0">
            <a:spAutoFit/>
          </a:bodyPr>
          <a:lstStyle/>
          <a:p>
            <a:pPr algn="l">
              <a:lnSpc>
                <a:spcPct val="125000"/>
              </a:lnSpc>
            </a:pPr>
            <a:r>
              <a:rPr sz="1500" b="0">
                <a:solidFill>
                  <a:srgbClr val="52525B"/>
                </a:solidFill>
                <a:latin typeface="Helvetica Neue"/>
              </a:rPr>
              <a:t>→</a:t>
            </a:r>
          </a:p>
        </p:txBody>
      </p:sp>
      <p:sp>
        <p:nvSpPr>
          <p:cNvPr id="12" name="TextBox 11"/>
          <p:cNvSpPr txBox="1"/>
          <p:nvPr/>
        </p:nvSpPr>
        <p:spPr>
          <a:xfrm>
            <a:off x="6227064" y="2148840"/>
            <a:ext cx="2395728" cy="274320"/>
          </a:xfrm>
          <a:prstGeom prst="rect">
            <a:avLst/>
          </a:prstGeom>
          <a:noFill/>
        </p:spPr>
        <p:txBody>
          <a:bodyPr wrap="square" lIns="0" rIns="0" tIns="0" bIns="0">
            <a:spAutoFit/>
          </a:bodyPr>
          <a:lstStyle/>
          <a:p>
            <a:pPr algn="ctr">
              <a:lnSpc>
                <a:spcPct val="125000"/>
              </a:lnSpc>
            </a:pPr>
            <a:r>
              <a:rPr sz="950" b="1" spc="180">
                <a:solidFill>
                  <a:srgbClr val="71717A"/>
                </a:solidFill>
                <a:latin typeface="Helvetica Neue"/>
              </a:rPr>
              <a:t>POLICY</a:t>
            </a:r>
          </a:p>
        </p:txBody>
      </p:sp>
      <p:sp>
        <p:nvSpPr>
          <p:cNvPr id="13" name="Rounded Rectangle 12"/>
          <p:cNvSpPr/>
          <p:nvPr/>
        </p:nvSpPr>
        <p:spPr>
          <a:xfrm>
            <a:off x="6227064" y="2514600"/>
            <a:ext cx="2395728" cy="137160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9944" y="2788920"/>
            <a:ext cx="2029968" cy="914400"/>
          </a:xfrm>
          <a:prstGeom prst="rect">
            <a:avLst/>
          </a:prstGeom>
          <a:noFill/>
        </p:spPr>
        <p:txBody>
          <a:bodyPr wrap="square" lIns="0" rIns="0" tIns="0" bIns="0" anchor="ctr">
            <a:spAutoFit/>
          </a:bodyPr>
          <a:lstStyle/>
          <a:p>
            <a:pPr algn="ctr">
              <a:lnSpc>
                <a:spcPct val="130000"/>
              </a:lnSpc>
            </a:pPr>
            <a:r>
              <a:rPr sz="1400" b="1">
                <a:solidFill>
                  <a:srgbClr val="FFFFFF"/>
                </a:solidFill>
                <a:latin typeface="Menlo"/>
              </a:rPr>
              <a:t>PUBLIC_HEALTH</a:t>
            </a:r>
          </a:p>
        </p:txBody>
      </p:sp>
      <p:sp>
        <p:nvSpPr>
          <p:cNvPr id="15" name="TextBox 14"/>
          <p:cNvSpPr txBox="1"/>
          <p:nvPr/>
        </p:nvSpPr>
        <p:spPr>
          <a:xfrm>
            <a:off x="8650224" y="3017520"/>
            <a:ext cx="292608" cy="274320"/>
          </a:xfrm>
          <a:prstGeom prst="rect">
            <a:avLst/>
          </a:prstGeom>
          <a:noFill/>
        </p:spPr>
        <p:txBody>
          <a:bodyPr wrap="square" lIns="0" rIns="0" tIns="0" bIns="0">
            <a:spAutoFit/>
          </a:bodyPr>
          <a:lstStyle/>
          <a:p>
            <a:pPr algn="l">
              <a:lnSpc>
                <a:spcPct val="125000"/>
              </a:lnSpc>
            </a:pPr>
            <a:r>
              <a:rPr sz="1500" b="0">
                <a:solidFill>
                  <a:srgbClr val="52525B"/>
                </a:solidFill>
                <a:latin typeface="Helvetica Neue"/>
              </a:rPr>
              <a:t>→</a:t>
            </a:r>
          </a:p>
        </p:txBody>
      </p:sp>
      <p:sp>
        <p:nvSpPr>
          <p:cNvPr id="16" name="TextBox 15"/>
          <p:cNvSpPr txBox="1"/>
          <p:nvPr/>
        </p:nvSpPr>
        <p:spPr>
          <a:xfrm>
            <a:off x="8951976" y="2148840"/>
            <a:ext cx="2395728" cy="274320"/>
          </a:xfrm>
          <a:prstGeom prst="rect">
            <a:avLst/>
          </a:prstGeom>
          <a:noFill/>
        </p:spPr>
        <p:txBody>
          <a:bodyPr wrap="square" lIns="0" rIns="0" tIns="0" bIns="0">
            <a:spAutoFit/>
          </a:bodyPr>
          <a:lstStyle/>
          <a:p>
            <a:pPr algn="ctr">
              <a:lnSpc>
                <a:spcPct val="125000"/>
              </a:lnSpc>
            </a:pPr>
            <a:r>
              <a:rPr sz="950" b="1" spc="180">
                <a:solidFill>
                  <a:srgbClr val="71717A"/>
                </a:solidFill>
                <a:latin typeface="Helvetica Neue"/>
              </a:rPr>
              <a:t>RECOMMENDATION</a:t>
            </a:r>
          </a:p>
        </p:txBody>
      </p:sp>
      <p:sp>
        <p:nvSpPr>
          <p:cNvPr id="17" name="Rounded Rectangle 16"/>
          <p:cNvSpPr/>
          <p:nvPr/>
        </p:nvSpPr>
        <p:spPr>
          <a:xfrm>
            <a:off x="8951976" y="2514600"/>
            <a:ext cx="2395728" cy="1371600"/>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34856" y="2788920"/>
            <a:ext cx="2029968" cy="914400"/>
          </a:xfrm>
          <a:prstGeom prst="rect">
            <a:avLst/>
          </a:prstGeom>
          <a:noFill/>
        </p:spPr>
        <p:txBody>
          <a:bodyPr wrap="square" lIns="0" rIns="0" tIns="0" bIns="0" anchor="ctr">
            <a:spAutoFit/>
          </a:bodyPr>
          <a:lstStyle/>
          <a:p>
            <a:pPr algn="ctr">
              <a:lnSpc>
                <a:spcPct val="130000"/>
              </a:lnSpc>
            </a:pPr>
            <a:r>
              <a:rPr sz="1300" b="1">
                <a:solidFill>
                  <a:srgbClr val="FFFFFF"/>
                </a:solidFill>
                <a:latin typeface="Helvetica Neue"/>
              </a:rPr>
              <a:t>Issue a public health</a:t>
            </a:r>
          </a:p>
          <a:p>
            <a:pPr algn="ctr">
              <a:lnSpc>
                <a:spcPct val="130000"/>
              </a:lnSpc>
            </a:pPr>
            <a:r>
              <a:rPr sz="1300" b="1">
                <a:solidFill>
                  <a:srgbClr val="FFFFFF"/>
                </a:solidFill>
                <a:latin typeface="Helvetica Neue"/>
              </a:rPr>
              <a:t>advisory for the</a:t>
            </a:r>
          </a:p>
          <a:p>
            <a:pPr algn="ctr">
              <a:lnSpc>
                <a:spcPct val="130000"/>
              </a:lnSpc>
            </a:pPr>
            <a:r>
              <a:rPr sz="1300" b="1">
                <a:solidFill>
                  <a:srgbClr val="FFFFFF"/>
                </a:solidFill>
                <a:latin typeface="Helvetica Neue"/>
              </a:rPr>
              <a:t>affected zone</a:t>
            </a:r>
          </a:p>
        </p:txBody>
      </p:sp>
      <p:sp>
        <p:nvSpPr>
          <p:cNvPr id="19" name="Rectangle 18"/>
          <p:cNvSpPr/>
          <p:nvPr/>
        </p:nvSpPr>
        <p:spPr>
          <a:xfrm>
            <a:off x="777240" y="434340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572000"/>
            <a:ext cx="274320" cy="320040"/>
          </a:xfrm>
          <a:prstGeom prst="rect">
            <a:avLst/>
          </a:prstGeom>
          <a:noFill/>
        </p:spPr>
        <p:txBody>
          <a:bodyPr wrap="square" lIns="0" rIns="0" tIns="0" bIns="0">
            <a:spAutoFit/>
          </a:bodyPr>
          <a:lstStyle/>
          <a:p>
            <a:pPr algn="l">
              <a:lnSpc>
                <a:spcPct val="125000"/>
              </a:lnSpc>
            </a:pPr>
            <a:r>
              <a:rPr sz="1500" b="1">
                <a:solidFill>
                  <a:srgbClr val="EAB308"/>
                </a:solidFill>
                <a:latin typeface="Helvetica Neue"/>
              </a:rPr>
              <a:t>·</a:t>
            </a:r>
          </a:p>
        </p:txBody>
      </p:sp>
      <p:sp>
        <p:nvSpPr>
          <p:cNvPr id="21" name="TextBox 20"/>
          <p:cNvSpPr txBox="1"/>
          <p:nvPr/>
        </p:nvSpPr>
        <p:spPr>
          <a:xfrm>
            <a:off x="1097280" y="4572000"/>
            <a:ext cx="10241280" cy="411480"/>
          </a:xfrm>
          <a:prstGeom prst="rect">
            <a:avLst/>
          </a:prstGeom>
          <a:noFill/>
        </p:spPr>
        <p:txBody>
          <a:bodyPr wrap="square" lIns="0" rIns="0" tIns="0" bIns="0">
            <a:spAutoFit/>
          </a:bodyPr>
          <a:lstStyle/>
          <a:p>
            <a:pPr algn="l">
              <a:lnSpc>
                <a:spcPct val="135000"/>
              </a:lnSpc>
            </a:pPr>
            <a:r>
              <a:rPr sz="1400" b="0">
                <a:solidFill>
                  <a:srgbClr val="FFFFFF"/>
                </a:solidFill>
                <a:latin typeface="Helvetica Neue"/>
              </a:rPr>
              <a:t>No LLM decides enforcement actions.</a:t>
            </a:r>
          </a:p>
        </p:txBody>
      </p:sp>
      <p:sp>
        <p:nvSpPr>
          <p:cNvPr id="22" name="TextBox 21"/>
          <p:cNvSpPr txBox="1"/>
          <p:nvPr/>
        </p:nvSpPr>
        <p:spPr>
          <a:xfrm>
            <a:off x="777240" y="5047488"/>
            <a:ext cx="274320" cy="320040"/>
          </a:xfrm>
          <a:prstGeom prst="rect">
            <a:avLst/>
          </a:prstGeom>
          <a:noFill/>
        </p:spPr>
        <p:txBody>
          <a:bodyPr wrap="square" lIns="0" rIns="0" tIns="0" bIns="0">
            <a:spAutoFit/>
          </a:bodyPr>
          <a:lstStyle/>
          <a:p>
            <a:pPr algn="l">
              <a:lnSpc>
                <a:spcPct val="125000"/>
              </a:lnSpc>
            </a:pPr>
            <a:r>
              <a:rPr sz="1500" b="1">
                <a:solidFill>
                  <a:srgbClr val="EAB308"/>
                </a:solidFill>
                <a:latin typeface="Helvetica Neue"/>
              </a:rPr>
              <a:t>·</a:t>
            </a:r>
          </a:p>
        </p:txBody>
      </p:sp>
      <p:sp>
        <p:nvSpPr>
          <p:cNvPr id="23" name="TextBox 22"/>
          <p:cNvSpPr txBox="1"/>
          <p:nvPr/>
        </p:nvSpPr>
        <p:spPr>
          <a:xfrm>
            <a:off x="1097280" y="5047488"/>
            <a:ext cx="10241280" cy="411480"/>
          </a:xfrm>
          <a:prstGeom prst="rect">
            <a:avLst/>
          </a:prstGeom>
          <a:noFill/>
        </p:spPr>
        <p:txBody>
          <a:bodyPr wrap="square" lIns="0" rIns="0" tIns="0" bIns="0">
            <a:spAutoFit/>
          </a:bodyPr>
          <a:lstStyle/>
          <a:p>
            <a:pPr algn="l">
              <a:lnSpc>
                <a:spcPct val="135000"/>
              </a:lnSpc>
            </a:pPr>
            <a:r>
              <a:rPr sz="1400" b="0">
                <a:solidFill>
                  <a:srgbClr val="FFFFFF"/>
                </a:solidFill>
                <a:latin typeface="Helvetica Neue"/>
              </a:rPr>
              <a:t>The decision engine is deterministic: the same evidence returns the same recommendation, every time.</a:t>
            </a:r>
          </a:p>
        </p:txBody>
      </p:sp>
      <p:sp>
        <p:nvSpPr>
          <p:cNvPr id="24" name="TextBox 23"/>
          <p:cNvSpPr txBox="1"/>
          <p:nvPr/>
        </p:nvSpPr>
        <p:spPr>
          <a:xfrm>
            <a:off x="777240" y="5522976"/>
            <a:ext cx="274320" cy="320040"/>
          </a:xfrm>
          <a:prstGeom prst="rect">
            <a:avLst/>
          </a:prstGeom>
          <a:noFill/>
        </p:spPr>
        <p:txBody>
          <a:bodyPr wrap="square" lIns="0" rIns="0" tIns="0" bIns="0">
            <a:spAutoFit/>
          </a:bodyPr>
          <a:lstStyle/>
          <a:p>
            <a:pPr algn="l">
              <a:lnSpc>
                <a:spcPct val="125000"/>
              </a:lnSpc>
            </a:pPr>
            <a:r>
              <a:rPr sz="1500" b="1">
                <a:solidFill>
                  <a:srgbClr val="EAB308"/>
                </a:solidFill>
                <a:latin typeface="Helvetica Neue"/>
              </a:rPr>
              <a:t>·</a:t>
            </a:r>
          </a:p>
        </p:txBody>
      </p:sp>
      <p:sp>
        <p:nvSpPr>
          <p:cNvPr id="25" name="TextBox 24"/>
          <p:cNvSpPr txBox="1"/>
          <p:nvPr/>
        </p:nvSpPr>
        <p:spPr>
          <a:xfrm>
            <a:off x="1097280" y="5522976"/>
            <a:ext cx="10241280" cy="411480"/>
          </a:xfrm>
          <a:prstGeom prst="rect">
            <a:avLst/>
          </a:prstGeom>
          <a:noFill/>
        </p:spPr>
        <p:txBody>
          <a:bodyPr wrap="square" lIns="0" rIns="0" tIns="0" bIns="0">
            <a:spAutoFit/>
          </a:bodyPr>
          <a:lstStyle/>
          <a:p>
            <a:pPr algn="l">
              <a:lnSpc>
                <a:spcPct val="135000"/>
              </a:lnSpc>
            </a:pPr>
            <a:r>
              <a:rPr sz="1400" b="0">
                <a:solidFill>
                  <a:srgbClr val="FFFFFF"/>
                </a:solidFill>
                <a:latin typeface="Helvetica Neue"/>
              </a:rPr>
              <a:t>A rule fires on the presence of evidence, never on its absence.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CHALLENGE THE RECOMMENDATION</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900" b="1">
                <a:solidFill>
                  <a:srgbClr val="FFFFFF"/>
                </a:solidFill>
                <a:latin typeface="Helvetica Neue"/>
              </a:rPr>
              <a:t>Do not trust the recommendation. Challenge it.</a:t>
            </a:r>
          </a:p>
        </p:txBody>
      </p:sp>
      <p:pic>
        <p:nvPicPr>
          <p:cNvPr id="4" name="Picture 3" descr="03-challenge-modal.png"/>
          <p:cNvPicPr>
            <a:picLocks noChangeAspect="1"/>
          </p:cNvPicPr>
          <p:nvPr/>
        </p:nvPicPr>
        <p:blipFill>
          <a:blip r:embed="rId2"/>
          <a:stretch>
            <a:fillRect/>
          </a:stretch>
        </p:blipFill>
        <p:spPr>
          <a:xfrm>
            <a:off x="1234439" y="2011680"/>
            <a:ext cx="6583680" cy="4114800"/>
          </a:xfrm>
          <a:prstGeom prst="rect">
            <a:avLst/>
          </a:prstGeom>
        </p:spPr>
      </p:pic>
      <p:sp>
        <p:nvSpPr>
          <p:cNvPr id="5" name="TextBox 4"/>
          <p:cNvSpPr txBox="1"/>
          <p:nvPr/>
        </p:nvSpPr>
        <p:spPr>
          <a:xfrm>
            <a:off x="8595360" y="2011680"/>
            <a:ext cx="2926080" cy="274320"/>
          </a:xfrm>
          <a:prstGeom prst="rect">
            <a:avLst/>
          </a:prstGeom>
          <a:noFill/>
        </p:spPr>
        <p:txBody>
          <a:bodyPr wrap="square" lIns="0" rIns="0" tIns="0" bIns="0">
            <a:spAutoFit/>
          </a:bodyPr>
          <a:lstStyle/>
          <a:p>
            <a:pPr algn="l">
              <a:lnSpc>
                <a:spcPct val="125000"/>
              </a:lnSpc>
            </a:pPr>
            <a:r>
              <a:rPr sz="950" b="1" spc="160">
                <a:solidFill>
                  <a:srgbClr val="71717A"/>
                </a:solidFill>
                <a:latin typeface="Helvetica Neue"/>
              </a:rPr>
              <a:t>THE MODAL EXPOSES</a:t>
            </a:r>
          </a:p>
        </p:txBody>
      </p:sp>
      <p:sp>
        <p:nvSpPr>
          <p:cNvPr id="6" name="TextBox 5"/>
          <p:cNvSpPr txBox="1"/>
          <p:nvPr/>
        </p:nvSpPr>
        <p:spPr>
          <a:xfrm>
            <a:off x="8595360" y="2395728"/>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Evidence used</a:t>
            </a:r>
          </a:p>
        </p:txBody>
      </p:sp>
      <p:sp>
        <p:nvSpPr>
          <p:cNvPr id="7" name="TextBox 6"/>
          <p:cNvSpPr txBox="1"/>
          <p:nvPr/>
        </p:nvSpPr>
        <p:spPr>
          <a:xfrm>
            <a:off x="8595360" y="2743200"/>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Rule triggered</a:t>
            </a:r>
          </a:p>
        </p:txBody>
      </p:sp>
      <p:sp>
        <p:nvSpPr>
          <p:cNvPr id="8" name="TextBox 7"/>
          <p:cNvSpPr txBox="1"/>
          <p:nvPr/>
        </p:nvSpPr>
        <p:spPr>
          <a:xfrm>
            <a:off x="8595360" y="3090672"/>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Policy applied</a:t>
            </a:r>
          </a:p>
        </p:txBody>
      </p:sp>
      <p:sp>
        <p:nvSpPr>
          <p:cNvPr id="9" name="TextBox 8"/>
          <p:cNvSpPr txBox="1"/>
          <p:nvPr/>
        </p:nvSpPr>
        <p:spPr>
          <a:xfrm>
            <a:off x="8595360" y="3438144"/>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Supporting observations</a:t>
            </a:r>
          </a:p>
        </p:txBody>
      </p:sp>
      <p:sp>
        <p:nvSpPr>
          <p:cNvPr id="10" name="TextBox 9"/>
          <p:cNvSpPr txBox="1"/>
          <p:nvPr/>
        </p:nvSpPr>
        <p:spPr>
          <a:xfrm>
            <a:off x="8595360" y="3785616"/>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Contradicting observations</a:t>
            </a:r>
          </a:p>
        </p:txBody>
      </p:sp>
      <p:sp>
        <p:nvSpPr>
          <p:cNvPr id="11" name="TextBox 10"/>
          <p:cNvSpPr txBox="1"/>
          <p:nvPr/>
        </p:nvSpPr>
        <p:spPr>
          <a:xfrm>
            <a:off x="8595360" y="4133088"/>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Assumptions</a:t>
            </a:r>
          </a:p>
        </p:txBody>
      </p:sp>
      <p:sp>
        <p:nvSpPr>
          <p:cNvPr id="12" name="TextBox 11"/>
          <p:cNvSpPr txBox="1"/>
          <p:nvPr/>
        </p:nvSpPr>
        <p:spPr>
          <a:xfrm>
            <a:off x="8595360" y="4480560"/>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Historical validation</a:t>
            </a:r>
          </a:p>
        </p:txBody>
      </p:sp>
      <p:sp>
        <p:nvSpPr>
          <p:cNvPr id="13" name="TextBox 12"/>
          <p:cNvSpPr txBox="1"/>
          <p:nvPr/>
        </p:nvSpPr>
        <p:spPr>
          <a:xfrm>
            <a:off x="8595360" y="4828032"/>
            <a:ext cx="3017520" cy="310896"/>
          </a:xfrm>
          <a:prstGeom prst="rect">
            <a:avLst/>
          </a:prstGeom>
          <a:noFill/>
        </p:spPr>
        <p:txBody>
          <a:bodyPr wrap="square" lIns="0" rIns="0" tIns="0" bIns="0">
            <a:spAutoFit/>
          </a:bodyPr>
          <a:lstStyle/>
          <a:p>
            <a:pPr algn="l">
              <a:lnSpc>
                <a:spcPct val="125000"/>
              </a:lnSpc>
            </a:pPr>
            <a:r>
              <a:rPr sz="1250" b="0">
                <a:solidFill>
                  <a:srgbClr val="A1A1AA"/>
                </a:solidFill>
                <a:latin typeface="Helvetica Neue"/>
              </a:rPr>
              <a:t>·  Known limitations</a:t>
            </a:r>
          </a:p>
        </p:txBody>
      </p:sp>
      <p:sp>
        <p:nvSpPr>
          <p:cNvPr id="14" name="Rounded Rectangle 13"/>
          <p:cNvSpPr/>
          <p:nvPr/>
        </p:nvSpPr>
        <p:spPr>
          <a:xfrm>
            <a:off x="8595360" y="5349240"/>
            <a:ext cx="2834640" cy="777240"/>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23960" y="5504688"/>
            <a:ext cx="2468880" cy="548640"/>
          </a:xfrm>
          <a:prstGeom prst="rect">
            <a:avLst/>
          </a:prstGeom>
          <a:noFill/>
        </p:spPr>
        <p:txBody>
          <a:bodyPr wrap="square" lIns="0" rIns="0" tIns="0" bIns="0">
            <a:spAutoFit/>
          </a:bodyPr>
          <a:lstStyle/>
          <a:p>
            <a:pPr algn="l">
              <a:lnSpc>
                <a:spcPct val="125000"/>
              </a:lnSpc>
            </a:pPr>
            <a:r>
              <a:rPr sz="1200" b="1">
                <a:solidFill>
                  <a:srgbClr val="FFFFFF"/>
                </a:solidFill>
                <a:latin typeface="Helvetica Neue"/>
              </a:rPr>
              <a:t>Every recommendation is auditable back to its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THE PRODUCT</a:t>
            </a:r>
          </a:p>
        </p:txBody>
      </p:sp>
      <p:sp>
        <p:nvSpPr>
          <p:cNvPr id="3" name="TextBox 2"/>
          <p:cNvSpPr txBox="1"/>
          <p:nvPr/>
        </p:nvSpPr>
        <p:spPr>
          <a:xfrm>
            <a:off x="777240" y="868680"/>
            <a:ext cx="7315200" cy="457200"/>
          </a:xfrm>
          <a:prstGeom prst="rect">
            <a:avLst/>
          </a:prstGeom>
          <a:noFill/>
        </p:spPr>
        <p:txBody>
          <a:bodyPr wrap="square" lIns="0" rIns="0" tIns="0" bIns="0">
            <a:spAutoFit/>
          </a:bodyPr>
          <a:lstStyle/>
          <a:p>
            <a:pPr algn="l">
              <a:lnSpc>
                <a:spcPct val="125000"/>
              </a:lnSpc>
            </a:pPr>
            <a:r>
              <a:rPr sz="2400" b="1">
                <a:solidFill>
                  <a:srgbClr val="FFFFFF"/>
                </a:solidFill>
                <a:latin typeface="Helvetica Neue"/>
              </a:rPr>
              <a:t>Historical Replay — Diwali 2019</a:t>
            </a:r>
          </a:p>
        </p:txBody>
      </p:sp>
      <p:pic>
        <p:nvPicPr>
          <p:cNvPr id="4" name="Picture 3" descr="02-console-diwali.png"/>
          <p:cNvPicPr>
            <a:picLocks noChangeAspect="1"/>
          </p:cNvPicPr>
          <p:nvPr/>
        </p:nvPicPr>
        <p:blipFill>
          <a:blip r:embed="rId2"/>
          <a:stretch>
            <a:fillRect/>
          </a:stretch>
        </p:blipFill>
        <p:spPr>
          <a:xfrm>
            <a:off x="1280160" y="1600200"/>
            <a:ext cx="7315200" cy="4572000"/>
          </a:xfrm>
          <a:prstGeom prst="rect">
            <a:avLst/>
          </a:prstGeom>
        </p:spPr>
      </p:pic>
      <p:sp>
        <p:nvSpPr>
          <p:cNvPr id="5" name="TextBox 4"/>
          <p:cNvSpPr txBox="1"/>
          <p:nvPr/>
        </p:nvSpPr>
        <p:spPr>
          <a:xfrm>
            <a:off x="9418320" y="1691640"/>
            <a:ext cx="2194560" cy="274320"/>
          </a:xfrm>
          <a:prstGeom prst="rect">
            <a:avLst/>
          </a:prstGeom>
          <a:noFill/>
        </p:spPr>
        <p:txBody>
          <a:bodyPr wrap="square" lIns="0" rIns="0" tIns="0" bIns="0">
            <a:spAutoFit/>
          </a:bodyPr>
          <a:lstStyle/>
          <a:p>
            <a:pPr algn="l">
              <a:lnSpc>
                <a:spcPct val="125000"/>
              </a:lnSpc>
            </a:pPr>
            <a:r>
              <a:rPr sz="950" b="1" spc="160">
                <a:solidFill>
                  <a:srgbClr val="71717A"/>
                </a:solidFill>
                <a:latin typeface="Helvetica Neue"/>
              </a:rPr>
              <a:t>READING ORDER</a:t>
            </a:r>
          </a:p>
        </p:txBody>
      </p:sp>
      <p:sp>
        <p:nvSpPr>
          <p:cNvPr id="6" name="TextBox 5"/>
          <p:cNvSpPr txBox="1"/>
          <p:nvPr/>
        </p:nvSpPr>
        <p:spPr>
          <a:xfrm>
            <a:off x="9418320" y="2103120"/>
            <a:ext cx="320040" cy="274320"/>
          </a:xfrm>
          <a:prstGeom prst="rect">
            <a:avLst/>
          </a:prstGeom>
          <a:noFill/>
        </p:spPr>
        <p:txBody>
          <a:bodyPr wrap="square" lIns="0" rIns="0" tIns="0" bIns="0">
            <a:spAutoFit/>
          </a:bodyPr>
          <a:lstStyle/>
          <a:p>
            <a:pPr algn="l">
              <a:lnSpc>
                <a:spcPct val="125000"/>
              </a:lnSpc>
            </a:pPr>
            <a:r>
              <a:rPr sz="1200" b="1">
                <a:solidFill>
                  <a:srgbClr val="EAB308"/>
                </a:solidFill>
                <a:latin typeface="Menlo"/>
              </a:rPr>
              <a:t>1</a:t>
            </a:r>
          </a:p>
        </p:txBody>
      </p:sp>
      <p:sp>
        <p:nvSpPr>
          <p:cNvPr id="7" name="TextBox 6"/>
          <p:cNvSpPr txBox="1"/>
          <p:nvPr/>
        </p:nvSpPr>
        <p:spPr>
          <a:xfrm>
            <a:off x="9784080" y="2103120"/>
            <a:ext cx="2103120" cy="320040"/>
          </a:xfrm>
          <a:prstGeom prst="rect">
            <a:avLst/>
          </a:prstGeom>
          <a:noFill/>
        </p:spPr>
        <p:txBody>
          <a:bodyPr wrap="square" lIns="0" rIns="0" tIns="0" bIns="0">
            <a:spAutoFit/>
          </a:bodyPr>
          <a:lstStyle/>
          <a:p>
            <a:pPr algn="l">
              <a:lnSpc>
                <a:spcPct val="125000"/>
              </a:lnSpc>
            </a:pPr>
            <a:r>
              <a:rPr sz="1300" b="0">
                <a:solidFill>
                  <a:srgbClr val="FFFFFF"/>
                </a:solidFill>
                <a:latin typeface="Helvetica Neue"/>
              </a:rPr>
              <a:t>Situation</a:t>
            </a:r>
          </a:p>
        </p:txBody>
      </p:sp>
      <p:sp>
        <p:nvSpPr>
          <p:cNvPr id="8" name="TextBox 7"/>
          <p:cNvSpPr txBox="1"/>
          <p:nvPr/>
        </p:nvSpPr>
        <p:spPr>
          <a:xfrm>
            <a:off x="9418320" y="2523744"/>
            <a:ext cx="320040" cy="274320"/>
          </a:xfrm>
          <a:prstGeom prst="rect">
            <a:avLst/>
          </a:prstGeom>
          <a:noFill/>
        </p:spPr>
        <p:txBody>
          <a:bodyPr wrap="square" lIns="0" rIns="0" tIns="0" bIns="0">
            <a:spAutoFit/>
          </a:bodyPr>
          <a:lstStyle/>
          <a:p>
            <a:pPr algn="l">
              <a:lnSpc>
                <a:spcPct val="125000"/>
              </a:lnSpc>
            </a:pPr>
            <a:r>
              <a:rPr sz="1200" b="1">
                <a:solidFill>
                  <a:srgbClr val="EAB308"/>
                </a:solidFill>
                <a:latin typeface="Menlo"/>
              </a:rPr>
              <a:t>2</a:t>
            </a:r>
          </a:p>
        </p:txBody>
      </p:sp>
      <p:sp>
        <p:nvSpPr>
          <p:cNvPr id="9" name="TextBox 8"/>
          <p:cNvSpPr txBox="1"/>
          <p:nvPr/>
        </p:nvSpPr>
        <p:spPr>
          <a:xfrm>
            <a:off x="9784080" y="2523744"/>
            <a:ext cx="2103120" cy="320040"/>
          </a:xfrm>
          <a:prstGeom prst="rect">
            <a:avLst/>
          </a:prstGeom>
          <a:noFill/>
        </p:spPr>
        <p:txBody>
          <a:bodyPr wrap="square" lIns="0" rIns="0" tIns="0" bIns="0">
            <a:spAutoFit/>
          </a:bodyPr>
          <a:lstStyle/>
          <a:p>
            <a:pPr algn="l">
              <a:lnSpc>
                <a:spcPct val="125000"/>
              </a:lnSpc>
            </a:pPr>
            <a:r>
              <a:rPr sz="1300" b="0">
                <a:solidFill>
                  <a:srgbClr val="FFFFFF"/>
                </a:solidFill>
                <a:latin typeface="Helvetica Neue"/>
              </a:rPr>
              <a:t>Transport geometry</a:t>
            </a:r>
          </a:p>
        </p:txBody>
      </p:sp>
      <p:sp>
        <p:nvSpPr>
          <p:cNvPr id="10" name="TextBox 9"/>
          <p:cNvSpPr txBox="1"/>
          <p:nvPr/>
        </p:nvSpPr>
        <p:spPr>
          <a:xfrm>
            <a:off x="9418320" y="2944368"/>
            <a:ext cx="320040" cy="274320"/>
          </a:xfrm>
          <a:prstGeom prst="rect">
            <a:avLst/>
          </a:prstGeom>
          <a:noFill/>
        </p:spPr>
        <p:txBody>
          <a:bodyPr wrap="square" lIns="0" rIns="0" tIns="0" bIns="0">
            <a:spAutoFit/>
          </a:bodyPr>
          <a:lstStyle/>
          <a:p>
            <a:pPr algn="l">
              <a:lnSpc>
                <a:spcPct val="125000"/>
              </a:lnSpc>
            </a:pPr>
            <a:r>
              <a:rPr sz="1200" b="1">
                <a:solidFill>
                  <a:srgbClr val="EAB308"/>
                </a:solidFill>
                <a:latin typeface="Menlo"/>
              </a:rPr>
              <a:t>3</a:t>
            </a:r>
          </a:p>
        </p:txBody>
      </p:sp>
      <p:sp>
        <p:nvSpPr>
          <p:cNvPr id="11" name="TextBox 10"/>
          <p:cNvSpPr txBox="1"/>
          <p:nvPr/>
        </p:nvSpPr>
        <p:spPr>
          <a:xfrm>
            <a:off x="9784080" y="2944368"/>
            <a:ext cx="2103120" cy="320040"/>
          </a:xfrm>
          <a:prstGeom prst="rect">
            <a:avLst/>
          </a:prstGeom>
          <a:noFill/>
        </p:spPr>
        <p:txBody>
          <a:bodyPr wrap="square" lIns="0" rIns="0" tIns="0" bIns="0">
            <a:spAutoFit/>
          </a:bodyPr>
          <a:lstStyle/>
          <a:p>
            <a:pPr algn="l">
              <a:lnSpc>
                <a:spcPct val="125000"/>
              </a:lnSpc>
            </a:pPr>
            <a:r>
              <a:rPr sz="1300" b="0">
                <a:solidFill>
                  <a:srgbClr val="FFFFFF"/>
                </a:solidFill>
                <a:latin typeface="Helvetica Neue"/>
              </a:rPr>
              <a:t>Evidence</a:t>
            </a:r>
          </a:p>
        </p:txBody>
      </p:sp>
      <p:sp>
        <p:nvSpPr>
          <p:cNvPr id="12" name="TextBox 11"/>
          <p:cNvSpPr txBox="1"/>
          <p:nvPr/>
        </p:nvSpPr>
        <p:spPr>
          <a:xfrm>
            <a:off x="9418320" y="3364992"/>
            <a:ext cx="320040" cy="274320"/>
          </a:xfrm>
          <a:prstGeom prst="rect">
            <a:avLst/>
          </a:prstGeom>
          <a:noFill/>
        </p:spPr>
        <p:txBody>
          <a:bodyPr wrap="square" lIns="0" rIns="0" tIns="0" bIns="0">
            <a:spAutoFit/>
          </a:bodyPr>
          <a:lstStyle/>
          <a:p>
            <a:pPr algn="l">
              <a:lnSpc>
                <a:spcPct val="125000"/>
              </a:lnSpc>
            </a:pPr>
            <a:r>
              <a:rPr sz="1200" b="1">
                <a:solidFill>
                  <a:srgbClr val="EAB308"/>
                </a:solidFill>
                <a:latin typeface="Menlo"/>
              </a:rPr>
              <a:t>4</a:t>
            </a:r>
          </a:p>
        </p:txBody>
      </p:sp>
      <p:sp>
        <p:nvSpPr>
          <p:cNvPr id="13" name="TextBox 12"/>
          <p:cNvSpPr txBox="1"/>
          <p:nvPr/>
        </p:nvSpPr>
        <p:spPr>
          <a:xfrm>
            <a:off x="9784080" y="3364992"/>
            <a:ext cx="2103120" cy="320040"/>
          </a:xfrm>
          <a:prstGeom prst="rect">
            <a:avLst/>
          </a:prstGeom>
          <a:noFill/>
        </p:spPr>
        <p:txBody>
          <a:bodyPr wrap="square" lIns="0" rIns="0" tIns="0" bIns="0">
            <a:spAutoFit/>
          </a:bodyPr>
          <a:lstStyle/>
          <a:p>
            <a:pPr algn="l">
              <a:lnSpc>
                <a:spcPct val="125000"/>
              </a:lnSpc>
            </a:pPr>
            <a:r>
              <a:rPr sz="1300" b="0">
                <a:solidFill>
                  <a:srgbClr val="FFFFFF"/>
                </a:solidFill>
                <a:latin typeface="Helvetica Neue"/>
              </a:rPr>
              <a:t>Recommendations</a:t>
            </a:r>
          </a:p>
        </p:txBody>
      </p:sp>
      <p:sp>
        <p:nvSpPr>
          <p:cNvPr id="14" name="TextBox 13"/>
          <p:cNvSpPr txBox="1"/>
          <p:nvPr/>
        </p:nvSpPr>
        <p:spPr>
          <a:xfrm>
            <a:off x="9418320" y="3785616"/>
            <a:ext cx="320040" cy="274320"/>
          </a:xfrm>
          <a:prstGeom prst="rect">
            <a:avLst/>
          </a:prstGeom>
          <a:noFill/>
        </p:spPr>
        <p:txBody>
          <a:bodyPr wrap="square" lIns="0" rIns="0" tIns="0" bIns="0">
            <a:spAutoFit/>
          </a:bodyPr>
          <a:lstStyle/>
          <a:p>
            <a:pPr algn="l">
              <a:lnSpc>
                <a:spcPct val="125000"/>
              </a:lnSpc>
            </a:pPr>
            <a:r>
              <a:rPr sz="1200" b="1">
                <a:solidFill>
                  <a:srgbClr val="EAB308"/>
                </a:solidFill>
                <a:latin typeface="Menlo"/>
              </a:rPr>
              <a:t>5</a:t>
            </a:r>
          </a:p>
        </p:txBody>
      </p:sp>
      <p:sp>
        <p:nvSpPr>
          <p:cNvPr id="15" name="TextBox 14"/>
          <p:cNvSpPr txBox="1"/>
          <p:nvPr/>
        </p:nvSpPr>
        <p:spPr>
          <a:xfrm>
            <a:off x="9784080" y="3785616"/>
            <a:ext cx="2103120" cy="320040"/>
          </a:xfrm>
          <a:prstGeom prst="rect">
            <a:avLst/>
          </a:prstGeom>
          <a:noFill/>
        </p:spPr>
        <p:txBody>
          <a:bodyPr wrap="square" lIns="0" rIns="0" tIns="0" bIns="0">
            <a:spAutoFit/>
          </a:bodyPr>
          <a:lstStyle/>
          <a:p>
            <a:pPr algn="l">
              <a:lnSpc>
                <a:spcPct val="125000"/>
              </a:lnSpc>
            </a:pPr>
            <a:r>
              <a:rPr sz="1300" b="0">
                <a:solidFill>
                  <a:srgbClr val="FFFFFF"/>
                </a:solidFill>
                <a:latin typeface="Helvetica Neue"/>
              </a:rPr>
              <a:t>Challenge</a:t>
            </a:r>
          </a:p>
        </p:txBody>
      </p:sp>
      <p:sp>
        <p:nvSpPr>
          <p:cNvPr id="16" name="TextBox 15"/>
          <p:cNvSpPr txBox="1"/>
          <p:nvPr/>
        </p:nvSpPr>
        <p:spPr>
          <a:xfrm>
            <a:off x="9418320" y="4206240"/>
            <a:ext cx="320040" cy="274320"/>
          </a:xfrm>
          <a:prstGeom prst="rect">
            <a:avLst/>
          </a:prstGeom>
          <a:noFill/>
        </p:spPr>
        <p:txBody>
          <a:bodyPr wrap="square" lIns="0" rIns="0" tIns="0" bIns="0">
            <a:spAutoFit/>
          </a:bodyPr>
          <a:lstStyle/>
          <a:p>
            <a:pPr algn="l">
              <a:lnSpc>
                <a:spcPct val="125000"/>
              </a:lnSpc>
            </a:pPr>
            <a:r>
              <a:rPr sz="1200" b="1">
                <a:solidFill>
                  <a:srgbClr val="EAB308"/>
                </a:solidFill>
                <a:latin typeface="Menlo"/>
              </a:rPr>
              <a:t>6</a:t>
            </a:r>
          </a:p>
        </p:txBody>
      </p:sp>
      <p:sp>
        <p:nvSpPr>
          <p:cNvPr id="17" name="TextBox 16"/>
          <p:cNvSpPr txBox="1"/>
          <p:nvPr/>
        </p:nvSpPr>
        <p:spPr>
          <a:xfrm>
            <a:off x="9784080" y="4206240"/>
            <a:ext cx="2103120" cy="320040"/>
          </a:xfrm>
          <a:prstGeom prst="rect">
            <a:avLst/>
          </a:prstGeom>
          <a:noFill/>
        </p:spPr>
        <p:txBody>
          <a:bodyPr wrap="square" lIns="0" rIns="0" tIns="0" bIns="0">
            <a:spAutoFit/>
          </a:bodyPr>
          <a:lstStyle/>
          <a:p>
            <a:pPr algn="l">
              <a:lnSpc>
                <a:spcPct val="125000"/>
              </a:lnSpc>
            </a:pPr>
            <a:r>
              <a:rPr sz="1300" b="0">
                <a:solidFill>
                  <a:srgbClr val="FFFFFF"/>
                </a:solidFill>
                <a:latin typeface="Helvetica Neue"/>
              </a:rPr>
              <a:t>Historical validation</a:t>
            </a:r>
          </a:p>
        </p:txBody>
      </p:sp>
      <p:sp>
        <p:nvSpPr>
          <p:cNvPr id="18" name="Rounded Rectangle 17"/>
          <p:cNvSpPr/>
          <p:nvPr/>
        </p:nvSpPr>
        <p:spPr>
          <a:xfrm>
            <a:off x="9418320" y="4754880"/>
            <a:ext cx="2148840" cy="1371600"/>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0" y="4937760"/>
            <a:ext cx="1783080" cy="1097280"/>
          </a:xfrm>
          <a:prstGeom prst="rect">
            <a:avLst/>
          </a:prstGeom>
          <a:noFill/>
        </p:spPr>
        <p:txBody>
          <a:bodyPr wrap="square" lIns="0" rIns="0" tIns="0" bIns="0">
            <a:spAutoFit/>
          </a:bodyPr>
          <a:lstStyle/>
          <a:p>
            <a:pPr algn="l">
              <a:lnSpc>
                <a:spcPct val="135000"/>
              </a:lnSpc>
            </a:pPr>
            <a:r>
              <a:rPr sz="1000" b="0">
                <a:solidFill>
                  <a:srgbClr val="A1A1AA"/>
                </a:solidFill>
                <a:latin typeface="Helvetica Neue"/>
              </a:rPr>
              <a:t>Every scenario is a reconstruction from archived observations. The console says so on every screen. Nothing here is a live 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TECHNICAL DIFFERENTIATION</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800" b="1">
                <a:solidFill>
                  <a:srgbClr val="FFFFFF"/>
                </a:solidFill>
                <a:latin typeface="Helvetica Neue"/>
              </a:rPr>
              <a:t>Built for evidence integrity, not just model output.</a:t>
            </a:r>
          </a:p>
        </p:txBody>
      </p:sp>
      <p:sp>
        <p:nvSpPr>
          <p:cNvPr id="4" name="TextBox 3"/>
          <p:cNvSpPr txBox="1"/>
          <p:nvPr/>
        </p:nvSpPr>
        <p:spPr>
          <a:xfrm>
            <a:off x="777240" y="1920240"/>
            <a:ext cx="411480" cy="320040"/>
          </a:xfrm>
          <a:prstGeom prst="rect">
            <a:avLst/>
          </a:prstGeom>
          <a:noFill/>
        </p:spPr>
        <p:txBody>
          <a:bodyPr wrap="square" lIns="0" rIns="0" tIns="0" bIns="0">
            <a:spAutoFit/>
          </a:bodyPr>
          <a:lstStyle/>
          <a:p>
            <a:pPr algn="l">
              <a:lnSpc>
                <a:spcPct val="125000"/>
              </a:lnSpc>
            </a:pPr>
            <a:r>
              <a:rPr sz="1100" b="1">
                <a:solidFill>
                  <a:srgbClr val="EAB308"/>
                </a:solidFill>
                <a:latin typeface="Menlo"/>
              </a:rPr>
              <a:t>01</a:t>
            </a:r>
          </a:p>
        </p:txBody>
      </p:sp>
      <p:sp>
        <p:nvSpPr>
          <p:cNvPr id="5" name="TextBox 4"/>
          <p:cNvSpPr txBox="1"/>
          <p:nvPr/>
        </p:nvSpPr>
        <p:spPr>
          <a:xfrm>
            <a:off x="1325880" y="1892808"/>
            <a:ext cx="3200400" cy="365760"/>
          </a:xfrm>
          <a:prstGeom prst="rect">
            <a:avLst/>
          </a:prstGeom>
          <a:noFill/>
        </p:spPr>
        <p:txBody>
          <a:bodyPr wrap="square" lIns="0" rIns="0" tIns="0" bIns="0">
            <a:spAutoFit/>
          </a:bodyPr>
          <a:lstStyle/>
          <a:p>
            <a:pPr algn="l">
              <a:lnSpc>
                <a:spcPct val="125000"/>
              </a:lnSpc>
            </a:pPr>
            <a:r>
              <a:rPr sz="1500" b="1">
                <a:solidFill>
                  <a:srgbClr val="FFFFFF"/>
                </a:solidFill>
                <a:latin typeface="Helvetica Neue"/>
              </a:rPr>
              <a:t>Resilient data foundation</a:t>
            </a:r>
          </a:p>
        </p:txBody>
      </p:sp>
      <p:sp>
        <p:nvSpPr>
          <p:cNvPr id="6" name="TextBox 5"/>
          <p:cNvSpPr txBox="1"/>
          <p:nvPr/>
        </p:nvSpPr>
        <p:spPr>
          <a:xfrm>
            <a:off x="4663440" y="1901952"/>
            <a:ext cx="6720840"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OpenAQ's live API advertises Delhi stations it will not return history for. Coverage was probed against the raw S3 archive instead, the only source whose claimed coverage matches what it returns.</a:t>
            </a:r>
          </a:p>
        </p:txBody>
      </p:sp>
      <p:sp>
        <p:nvSpPr>
          <p:cNvPr id="7" name="Rectangle 6"/>
          <p:cNvSpPr/>
          <p:nvPr/>
        </p:nvSpPr>
        <p:spPr>
          <a:xfrm>
            <a:off x="777240" y="260604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88920"/>
            <a:ext cx="411480" cy="320040"/>
          </a:xfrm>
          <a:prstGeom prst="rect">
            <a:avLst/>
          </a:prstGeom>
          <a:noFill/>
        </p:spPr>
        <p:txBody>
          <a:bodyPr wrap="square" lIns="0" rIns="0" tIns="0" bIns="0">
            <a:spAutoFit/>
          </a:bodyPr>
          <a:lstStyle/>
          <a:p>
            <a:pPr algn="l">
              <a:lnSpc>
                <a:spcPct val="125000"/>
              </a:lnSpc>
            </a:pPr>
            <a:r>
              <a:rPr sz="1100" b="1">
                <a:solidFill>
                  <a:srgbClr val="EAB308"/>
                </a:solidFill>
                <a:latin typeface="Menlo"/>
              </a:rPr>
              <a:t>02</a:t>
            </a:r>
          </a:p>
        </p:txBody>
      </p:sp>
      <p:sp>
        <p:nvSpPr>
          <p:cNvPr id="9" name="TextBox 8"/>
          <p:cNvSpPr txBox="1"/>
          <p:nvPr/>
        </p:nvSpPr>
        <p:spPr>
          <a:xfrm>
            <a:off x="1325880" y="2761488"/>
            <a:ext cx="3200400" cy="365760"/>
          </a:xfrm>
          <a:prstGeom prst="rect">
            <a:avLst/>
          </a:prstGeom>
          <a:noFill/>
        </p:spPr>
        <p:txBody>
          <a:bodyPr wrap="square" lIns="0" rIns="0" tIns="0" bIns="0">
            <a:spAutoFit/>
          </a:bodyPr>
          <a:lstStyle/>
          <a:p>
            <a:pPr algn="l">
              <a:lnSpc>
                <a:spcPct val="125000"/>
              </a:lnSpc>
            </a:pPr>
            <a:r>
              <a:rPr sz="1500" b="1">
                <a:solidFill>
                  <a:srgbClr val="FFFFFF"/>
                </a:solidFill>
                <a:latin typeface="Helvetica Neue"/>
              </a:rPr>
              <a:t>Data quality at the boundary</a:t>
            </a:r>
          </a:p>
        </p:txBody>
      </p:sp>
      <p:sp>
        <p:nvSpPr>
          <p:cNvPr id="10" name="TextBox 9"/>
          <p:cNvSpPr txBox="1"/>
          <p:nvPr/>
        </p:nvSpPr>
        <p:spPr>
          <a:xfrm>
            <a:off x="4663440" y="2770632"/>
            <a:ext cx="6720840"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Missing-data sentinels (−999, −9999, any negative concentration) are dropped at parse time, not filtered in queries, so one can never reach the database and be forgotten by a later aggregate.</a:t>
            </a:r>
          </a:p>
        </p:txBody>
      </p:sp>
      <p:sp>
        <p:nvSpPr>
          <p:cNvPr id="11" name="Rectangle 10"/>
          <p:cNvSpPr/>
          <p:nvPr/>
        </p:nvSpPr>
        <p:spPr>
          <a:xfrm>
            <a:off x="777240" y="347472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657600"/>
            <a:ext cx="411480" cy="320040"/>
          </a:xfrm>
          <a:prstGeom prst="rect">
            <a:avLst/>
          </a:prstGeom>
          <a:noFill/>
        </p:spPr>
        <p:txBody>
          <a:bodyPr wrap="square" lIns="0" rIns="0" tIns="0" bIns="0">
            <a:spAutoFit/>
          </a:bodyPr>
          <a:lstStyle/>
          <a:p>
            <a:pPr algn="l">
              <a:lnSpc>
                <a:spcPct val="125000"/>
              </a:lnSpc>
            </a:pPr>
            <a:r>
              <a:rPr sz="1100" b="1">
                <a:solidFill>
                  <a:srgbClr val="EAB308"/>
                </a:solidFill>
                <a:latin typeface="Menlo"/>
              </a:rPr>
              <a:t>03</a:t>
            </a:r>
          </a:p>
        </p:txBody>
      </p:sp>
      <p:sp>
        <p:nvSpPr>
          <p:cNvPr id="13" name="TextBox 12"/>
          <p:cNvSpPr txBox="1"/>
          <p:nvPr/>
        </p:nvSpPr>
        <p:spPr>
          <a:xfrm>
            <a:off x="1325880" y="3630168"/>
            <a:ext cx="3200400" cy="365760"/>
          </a:xfrm>
          <a:prstGeom prst="rect">
            <a:avLst/>
          </a:prstGeom>
          <a:noFill/>
        </p:spPr>
        <p:txBody>
          <a:bodyPr wrap="square" lIns="0" rIns="0" tIns="0" bIns="0">
            <a:spAutoFit/>
          </a:bodyPr>
          <a:lstStyle/>
          <a:p>
            <a:pPr algn="l">
              <a:lnSpc>
                <a:spcPct val="125000"/>
              </a:lnSpc>
            </a:pPr>
            <a:r>
              <a:rPr sz="1500" b="1">
                <a:solidFill>
                  <a:srgbClr val="FFFFFF"/>
                </a:solidFill>
                <a:latin typeface="Helvetica Neue"/>
              </a:rPr>
              <a:t>Station identity</a:t>
            </a:r>
          </a:p>
        </p:txBody>
      </p:sp>
      <p:sp>
        <p:nvSpPr>
          <p:cNvPr id="14" name="TextBox 13"/>
          <p:cNvSpPr txBox="1"/>
          <p:nvPr/>
        </p:nvSpPr>
        <p:spPr>
          <a:xfrm>
            <a:off x="4663440" y="3639312"/>
            <a:ext cx="6720840"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One physical station appears under several OpenAQ location ids. Left unresolved this overstates the network and double-counts readings into city means.</a:t>
            </a:r>
          </a:p>
        </p:txBody>
      </p:sp>
      <p:sp>
        <p:nvSpPr>
          <p:cNvPr id="15" name="Rectangle 14"/>
          <p:cNvSpPr/>
          <p:nvPr/>
        </p:nvSpPr>
        <p:spPr>
          <a:xfrm>
            <a:off x="777240" y="434340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526280"/>
            <a:ext cx="411480" cy="320040"/>
          </a:xfrm>
          <a:prstGeom prst="rect">
            <a:avLst/>
          </a:prstGeom>
          <a:noFill/>
        </p:spPr>
        <p:txBody>
          <a:bodyPr wrap="square" lIns="0" rIns="0" tIns="0" bIns="0">
            <a:spAutoFit/>
          </a:bodyPr>
          <a:lstStyle/>
          <a:p>
            <a:pPr algn="l">
              <a:lnSpc>
                <a:spcPct val="125000"/>
              </a:lnSpc>
            </a:pPr>
            <a:r>
              <a:rPr sz="1100" b="1">
                <a:solidFill>
                  <a:srgbClr val="EAB308"/>
                </a:solidFill>
                <a:latin typeface="Menlo"/>
              </a:rPr>
              <a:t>04</a:t>
            </a:r>
          </a:p>
        </p:txBody>
      </p:sp>
      <p:sp>
        <p:nvSpPr>
          <p:cNvPr id="17" name="TextBox 16"/>
          <p:cNvSpPr txBox="1"/>
          <p:nvPr/>
        </p:nvSpPr>
        <p:spPr>
          <a:xfrm>
            <a:off x="1325880" y="4498848"/>
            <a:ext cx="3200400" cy="365760"/>
          </a:xfrm>
          <a:prstGeom prst="rect">
            <a:avLst/>
          </a:prstGeom>
          <a:noFill/>
        </p:spPr>
        <p:txBody>
          <a:bodyPr wrap="square" lIns="0" rIns="0" tIns="0" bIns="0">
            <a:spAutoFit/>
          </a:bodyPr>
          <a:lstStyle/>
          <a:p>
            <a:pPr algn="l">
              <a:lnSpc>
                <a:spcPct val="125000"/>
              </a:lnSpc>
            </a:pPr>
            <a:r>
              <a:rPr sz="1500" b="1">
                <a:solidFill>
                  <a:srgbClr val="FFFFFF"/>
                </a:solidFill>
                <a:latin typeface="Helvetica Neue"/>
              </a:rPr>
              <a:t>Observation gaps</a:t>
            </a:r>
          </a:p>
        </p:txBody>
      </p:sp>
      <p:sp>
        <p:nvSpPr>
          <p:cNvPr id="18" name="TextBox 17"/>
          <p:cNvSpPr txBox="1"/>
          <p:nvPr/>
        </p:nvSpPr>
        <p:spPr>
          <a:xfrm>
            <a:off x="4663440" y="4507992"/>
            <a:ext cx="6720840"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A satellite non-observation is not a true non-detection. VIIRS passes over Delhi twice a day, so an absence of fire detections may be an absence of overpass, and the system reports it that way.</a:t>
            </a:r>
          </a:p>
        </p:txBody>
      </p:sp>
      <p:sp>
        <p:nvSpPr>
          <p:cNvPr id="19" name="Rectangle 18"/>
          <p:cNvSpPr/>
          <p:nvPr/>
        </p:nvSpPr>
        <p:spPr>
          <a:xfrm>
            <a:off x="777240" y="521208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94960"/>
            <a:ext cx="411480" cy="320040"/>
          </a:xfrm>
          <a:prstGeom prst="rect">
            <a:avLst/>
          </a:prstGeom>
          <a:noFill/>
        </p:spPr>
        <p:txBody>
          <a:bodyPr wrap="square" lIns="0" rIns="0" tIns="0" bIns="0">
            <a:spAutoFit/>
          </a:bodyPr>
          <a:lstStyle/>
          <a:p>
            <a:pPr algn="l">
              <a:lnSpc>
                <a:spcPct val="125000"/>
              </a:lnSpc>
            </a:pPr>
            <a:r>
              <a:rPr sz="1100" b="1">
                <a:solidFill>
                  <a:srgbClr val="EAB308"/>
                </a:solidFill>
                <a:latin typeface="Menlo"/>
              </a:rPr>
              <a:t>05</a:t>
            </a:r>
          </a:p>
        </p:txBody>
      </p:sp>
      <p:sp>
        <p:nvSpPr>
          <p:cNvPr id="21" name="TextBox 20"/>
          <p:cNvSpPr txBox="1"/>
          <p:nvPr/>
        </p:nvSpPr>
        <p:spPr>
          <a:xfrm>
            <a:off x="1325880" y="5367528"/>
            <a:ext cx="3200400" cy="365760"/>
          </a:xfrm>
          <a:prstGeom prst="rect">
            <a:avLst/>
          </a:prstGeom>
          <a:noFill/>
        </p:spPr>
        <p:txBody>
          <a:bodyPr wrap="square" lIns="0" rIns="0" tIns="0" bIns="0">
            <a:spAutoFit/>
          </a:bodyPr>
          <a:lstStyle/>
          <a:p>
            <a:pPr algn="l">
              <a:lnSpc>
                <a:spcPct val="125000"/>
              </a:lnSpc>
            </a:pPr>
            <a:r>
              <a:rPr sz="1500" b="1">
                <a:solidFill>
                  <a:srgbClr val="FFFFFF"/>
                </a:solidFill>
                <a:latin typeface="Helvetica Neue"/>
              </a:rPr>
              <a:t>Auditable decisions</a:t>
            </a:r>
          </a:p>
        </p:txBody>
      </p:sp>
      <p:sp>
        <p:nvSpPr>
          <p:cNvPr id="22" name="TextBox 21"/>
          <p:cNvSpPr txBox="1"/>
          <p:nvPr/>
        </p:nvSpPr>
        <p:spPr>
          <a:xfrm>
            <a:off x="4663440" y="5376672"/>
            <a:ext cx="6720840" cy="731520"/>
          </a:xfrm>
          <a:prstGeom prst="rect">
            <a:avLst/>
          </a:prstGeom>
          <a:noFill/>
        </p:spPr>
        <p:txBody>
          <a:bodyPr wrap="square" lIns="0" rIns="0" tIns="0" bIns="0">
            <a:spAutoFit/>
          </a:bodyPr>
          <a:lstStyle/>
          <a:p>
            <a:pPr algn="l">
              <a:lnSpc>
                <a:spcPct val="140000"/>
              </a:lnSpc>
            </a:pPr>
            <a:r>
              <a:rPr sz="1150" b="0">
                <a:solidFill>
                  <a:srgbClr val="A1A1AA"/>
                </a:solidFill>
                <a:latin typeface="Helvetica Neue"/>
              </a:rPr>
              <a:t>Evidence → Rule → Policy → Recommendation, exposed in the interface rather than buried in a 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77240" y="502920"/>
            <a:ext cx="10058400" cy="274320"/>
          </a:xfrm>
          <a:prstGeom prst="rect">
            <a:avLst/>
          </a:prstGeom>
          <a:noFill/>
        </p:spPr>
        <p:txBody>
          <a:bodyPr wrap="square" lIns="0" rIns="0" tIns="0" bIns="0">
            <a:spAutoFit/>
          </a:bodyPr>
          <a:lstStyle/>
          <a:p>
            <a:pPr algn="l">
              <a:lnSpc>
                <a:spcPct val="125000"/>
              </a:lnSpc>
            </a:pPr>
            <a:r>
              <a:rPr sz="1100" b="1" spc="240">
                <a:solidFill>
                  <a:srgbClr val="EAB308"/>
                </a:solidFill>
                <a:latin typeface="Helvetica Neue"/>
              </a:rPr>
              <a:t>IMPACT &amp; FUTURE</a:t>
            </a:r>
          </a:p>
        </p:txBody>
      </p:sp>
      <p:sp>
        <p:nvSpPr>
          <p:cNvPr id="3" name="TextBox 2"/>
          <p:cNvSpPr txBox="1"/>
          <p:nvPr/>
        </p:nvSpPr>
        <p:spPr>
          <a:xfrm>
            <a:off x="777240" y="914400"/>
            <a:ext cx="10607040" cy="1371600"/>
          </a:xfrm>
          <a:prstGeom prst="rect">
            <a:avLst/>
          </a:prstGeom>
          <a:noFill/>
        </p:spPr>
        <p:txBody>
          <a:bodyPr wrap="square" lIns="0" rIns="0" tIns="0" bIns="0">
            <a:spAutoFit/>
          </a:bodyPr>
          <a:lstStyle/>
          <a:p>
            <a:pPr algn="l">
              <a:lnSpc>
                <a:spcPct val="118000"/>
              </a:lnSpc>
            </a:pPr>
            <a:r>
              <a:rPr sz="2700" b="1">
                <a:solidFill>
                  <a:srgbClr val="FFFFFF"/>
                </a:solidFill>
                <a:latin typeface="Helvetica Neue"/>
              </a:rPr>
              <a:t>From a Delhi proof of concept to city-scale environmental decision support.</a:t>
            </a:r>
          </a:p>
        </p:txBody>
      </p:sp>
      <p:sp>
        <p:nvSpPr>
          <p:cNvPr id="4" name="Rounded Rectangle 3"/>
          <p:cNvSpPr/>
          <p:nvPr/>
        </p:nvSpPr>
        <p:spPr>
          <a:xfrm>
            <a:off x="777240" y="2194560"/>
            <a:ext cx="5120640" cy="2651760"/>
          </a:xfrm>
          <a:prstGeom prst="roundRect">
            <a:avLst>
              <a:gd name="adj" fmla="val 3000"/>
            </a:avLst>
          </a:prstGeom>
          <a:solidFill>
            <a:srgbClr val="0A0A0A"/>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1560" y="2423160"/>
            <a:ext cx="4572000" cy="274320"/>
          </a:xfrm>
          <a:prstGeom prst="rect">
            <a:avLst/>
          </a:prstGeom>
          <a:noFill/>
        </p:spPr>
        <p:txBody>
          <a:bodyPr wrap="square" lIns="0" rIns="0" tIns="0" bIns="0">
            <a:spAutoFit/>
          </a:bodyPr>
          <a:lstStyle/>
          <a:p>
            <a:pPr algn="l">
              <a:lnSpc>
                <a:spcPct val="125000"/>
              </a:lnSpc>
            </a:pPr>
            <a:r>
              <a:rPr sz="950" b="1" spc="150">
                <a:solidFill>
                  <a:srgbClr val="22C55E"/>
                </a:solidFill>
                <a:latin typeface="Helvetica Neue"/>
              </a:rPr>
              <a:t>BUILT AND DEPLOYED — DELHI</a:t>
            </a:r>
          </a:p>
        </p:txBody>
      </p:sp>
      <p:sp>
        <p:nvSpPr>
          <p:cNvPr id="6" name="TextBox 5"/>
          <p:cNvSpPr txBox="1"/>
          <p:nvPr/>
        </p:nvSpPr>
        <p:spPr>
          <a:xfrm>
            <a:off x="1051560" y="2834640"/>
            <a:ext cx="4663440" cy="365760"/>
          </a:xfrm>
          <a:prstGeom prst="rect">
            <a:avLst/>
          </a:prstGeom>
          <a:noFill/>
        </p:spPr>
        <p:txBody>
          <a:bodyPr wrap="square" lIns="0" rIns="0" tIns="0" bIns="0">
            <a:spAutoFit/>
          </a:bodyPr>
          <a:lstStyle/>
          <a:p>
            <a:pPr algn="l">
              <a:lnSpc>
                <a:spcPct val="130000"/>
              </a:lnSpc>
            </a:pPr>
            <a:r>
              <a:rPr sz="1250" b="0">
                <a:solidFill>
                  <a:srgbClr val="FFFFFF"/>
                </a:solidFill>
                <a:latin typeface="Helvetica Neue"/>
              </a:rPr>
              <a:t>·  Evidence Engine, three hypotheses</a:t>
            </a:r>
          </a:p>
        </p:txBody>
      </p:sp>
      <p:sp>
        <p:nvSpPr>
          <p:cNvPr id="7" name="TextBox 6"/>
          <p:cNvSpPr txBox="1"/>
          <p:nvPr/>
        </p:nvSpPr>
        <p:spPr>
          <a:xfrm>
            <a:off x="1051560" y="3255264"/>
            <a:ext cx="4663440" cy="365760"/>
          </a:xfrm>
          <a:prstGeom prst="rect">
            <a:avLst/>
          </a:prstGeom>
          <a:noFill/>
        </p:spPr>
        <p:txBody>
          <a:bodyPr wrap="square" lIns="0" rIns="0" tIns="0" bIns="0">
            <a:spAutoFit/>
          </a:bodyPr>
          <a:lstStyle/>
          <a:p>
            <a:pPr algn="l">
              <a:lnSpc>
                <a:spcPct val="130000"/>
              </a:lnSpc>
            </a:pPr>
            <a:r>
              <a:rPr sz="1250" b="0">
                <a:solidFill>
                  <a:srgbClr val="FFFFFF"/>
                </a:solidFill>
                <a:latin typeface="Helvetica Neue"/>
              </a:rPr>
              <a:t>·  Deterministic Decision Engine</a:t>
            </a:r>
          </a:p>
        </p:txBody>
      </p:sp>
      <p:sp>
        <p:nvSpPr>
          <p:cNvPr id="8" name="TextBox 7"/>
          <p:cNvSpPr txBox="1"/>
          <p:nvPr/>
        </p:nvSpPr>
        <p:spPr>
          <a:xfrm>
            <a:off x="1051560" y="3675888"/>
            <a:ext cx="4663440" cy="365760"/>
          </a:xfrm>
          <a:prstGeom prst="rect">
            <a:avLst/>
          </a:prstGeom>
          <a:noFill/>
        </p:spPr>
        <p:txBody>
          <a:bodyPr wrap="square" lIns="0" rIns="0" tIns="0" bIns="0">
            <a:spAutoFit/>
          </a:bodyPr>
          <a:lstStyle/>
          <a:p>
            <a:pPr algn="l">
              <a:lnSpc>
                <a:spcPct val="130000"/>
              </a:lnSpc>
            </a:pPr>
            <a:r>
              <a:rPr sz="1250" b="0">
                <a:solidFill>
                  <a:srgbClr val="FFFFFF"/>
                </a:solidFill>
                <a:latin typeface="Helvetica Neue"/>
              </a:rPr>
              <a:t>·  Operations Console with full audit trace</a:t>
            </a:r>
          </a:p>
        </p:txBody>
      </p:sp>
      <p:sp>
        <p:nvSpPr>
          <p:cNvPr id="9" name="TextBox 8"/>
          <p:cNvSpPr txBox="1"/>
          <p:nvPr/>
        </p:nvSpPr>
        <p:spPr>
          <a:xfrm>
            <a:off x="1051560" y="4096512"/>
            <a:ext cx="4663440" cy="365760"/>
          </a:xfrm>
          <a:prstGeom prst="rect">
            <a:avLst/>
          </a:prstGeom>
          <a:noFill/>
        </p:spPr>
        <p:txBody>
          <a:bodyPr wrap="square" lIns="0" rIns="0" tIns="0" bIns="0">
            <a:spAutoFit/>
          </a:bodyPr>
          <a:lstStyle/>
          <a:p>
            <a:pPr algn="l">
              <a:lnSpc>
                <a:spcPct val="130000"/>
              </a:lnSpc>
            </a:pPr>
            <a:r>
              <a:rPr sz="1250" b="0">
                <a:solidFill>
                  <a:srgbClr val="FFFFFF"/>
                </a:solidFill>
                <a:latin typeface="Helvetica Neue"/>
              </a:rPr>
              <a:t>·  COVID lockdown validation, completed</a:t>
            </a:r>
          </a:p>
        </p:txBody>
      </p:sp>
      <p:sp>
        <p:nvSpPr>
          <p:cNvPr id="10" name="Rounded Rectangle 9"/>
          <p:cNvSpPr/>
          <p:nvPr/>
        </p:nvSpPr>
        <p:spPr>
          <a:xfrm>
            <a:off x="6263640" y="2194560"/>
            <a:ext cx="5120640" cy="2651760"/>
          </a:xfrm>
          <a:prstGeom prst="roundRect">
            <a:avLst>
              <a:gd name="adj" fmla="val 3000"/>
            </a:avLst>
          </a:prstGeom>
          <a:solidFill>
            <a:srgbClr val="0A0A0A"/>
          </a:solidFill>
          <a:ln w="12700">
            <a:solidFill>
              <a:srgbClr val="1C1C1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37960" y="2423160"/>
            <a:ext cx="4572000" cy="274320"/>
          </a:xfrm>
          <a:prstGeom prst="rect">
            <a:avLst/>
          </a:prstGeom>
          <a:noFill/>
        </p:spPr>
        <p:txBody>
          <a:bodyPr wrap="square" lIns="0" rIns="0" tIns="0" bIns="0">
            <a:spAutoFit/>
          </a:bodyPr>
          <a:lstStyle/>
          <a:p>
            <a:pPr algn="l">
              <a:lnSpc>
                <a:spcPct val="125000"/>
              </a:lnSpc>
            </a:pPr>
            <a:r>
              <a:rPr sz="950" b="1" spc="150">
                <a:solidFill>
                  <a:srgbClr val="71717A"/>
                </a:solidFill>
                <a:latin typeface="Helvetica Neue"/>
              </a:rPr>
              <a:t>NOT YET BUILT</a:t>
            </a:r>
          </a:p>
        </p:txBody>
      </p:sp>
      <p:sp>
        <p:nvSpPr>
          <p:cNvPr id="12" name="TextBox 11"/>
          <p:cNvSpPr txBox="1"/>
          <p:nvPr/>
        </p:nvSpPr>
        <p:spPr>
          <a:xfrm>
            <a:off x="6537960" y="2834640"/>
            <a:ext cx="4663440" cy="320040"/>
          </a:xfrm>
          <a:prstGeom prst="rect">
            <a:avLst/>
          </a:prstGeom>
          <a:noFill/>
        </p:spPr>
        <p:txBody>
          <a:bodyPr wrap="square" lIns="0" rIns="0" tIns="0" bIns="0">
            <a:spAutoFit/>
          </a:bodyPr>
          <a:lstStyle/>
          <a:p>
            <a:pPr algn="l">
              <a:lnSpc>
                <a:spcPct val="125000"/>
              </a:lnSpc>
            </a:pPr>
            <a:r>
              <a:rPr sz="1150" b="0">
                <a:solidFill>
                  <a:srgbClr val="A1A1AA"/>
                </a:solidFill>
                <a:latin typeface="Helvetica Neue"/>
              </a:rPr>
              <a:t>·  Road-density context for the traffic hypothesis</a:t>
            </a:r>
          </a:p>
        </p:txBody>
      </p:sp>
      <p:sp>
        <p:nvSpPr>
          <p:cNvPr id="13" name="TextBox 12"/>
          <p:cNvSpPr txBox="1"/>
          <p:nvPr/>
        </p:nvSpPr>
        <p:spPr>
          <a:xfrm>
            <a:off x="6537960" y="3172968"/>
            <a:ext cx="4663440" cy="320040"/>
          </a:xfrm>
          <a:prstGeom prst="rect">
            <a:avLst/>
          </a:prstGeom>
          <a:noFill/>
        </p:spPr>
        <p:txBody>
          <a:bodyPr wrap="square" lIns="0" rIns="0" tIns="0" bIns="0">
            <a:spAutoFit/>
          </a:bodyPr>
          <a:lstStyle/>
          <a:p>
            <a:pPr algn="l">
              <a:lnSpc>
                <a:spcPct val="125000"/>
              </a:lnSpc>
            </a:pPr>
            <a:r>
              <a:rPr sz="1150" b="0">
                <a:solidFill>
                  <a:srgbClr val="A1A1AA"/>
                </a:solidFill>
                <a:latin typeface="Helvetica Neue"/>
              </a:rPr>
              <a:t>·  Industrial proximity for the industrial hypothesis</a:t>
            </a:r>
          </a:p>
        </p:txBody>
      </p:sp>
      <p:sp>
        <p:nvSpPr>
          <p:cNvPr id="14" name="TextBox 13"/>
          <p:cNvSpPr txBox="1"/>
          <p:nvPr/>
        </p:nvSpPr>
        <p:spPr>
          <a:xfrm>
            <a:off x="6537960" y="3511296"/>
            <a:ext cx="4663440" cy="320040"/>
          </a:xfrm>
          <a:prstGeom prst="rect">
            <a:avLst/>
          </a:prstGeom>
          <a:noFill/>
        </p:spPr>
        <p:txBody>
          <a:bodyPr wrap="square" lIns="0" rIns="0" tIns="0" bIns="0">
            <a:spAutoFit/>
          </a:bodyPr>
          <a:lstStyle/>
          <a:p>
            <a:pPr algn="l">
              <a:lnSpc>
                <a:spcPct val="125000"/>
              </a:lnSpc>
            </a:pPr>
            <a:r>
              <a:rPr sz="1150" b="0">
                <a:solidFill>
                  <a:srgbClr val="A1A1AA"/>
                </a:solidFill>
                <a:latin typeface="Helvetica Neue"/>
              </a:rPr>
              <a:t>·  Expanded historical validation (Diwali, Odd-Even)</a:t>
            </a:r>
          </a:p>
        </p:txBody>
      </p:sp>
      <p:sp>
        <p:nvSpPr>
          <p:cNvPr id="15" name="TextBox 14"/>
          <p:cNvSpPr txBox="1"/>
          <p:nvPr/>
        </p:nvSpPr>
        <p:spPr>
          <a:xfrm>
            <a:off x="6537960" y="3849624"/>
            <a:ext cx="4663440" cy="320040"/>
          </a:xfrm>
          <a:prstGeom prst="rect">
            <a:avLst/>
          </a:prstGeom>
          <a:noFill/>
        </p:spPr>
        <p:txBody>
          <a:bodyPr wrap="square" lIns="0" rIns="0" tIns="0" bIns="0">
            <a:spAutoFit/>
          </a:bodyPr>
          <a:lstStyle/>
          <a:p>
            <a:pPr algn="l">
              <a:lnSpc>
                <a:spcPct val="125000"/>
              </a:lnSpc>
            </a:pPr>
            <a:r>
              <a:rPr sz="1150" b="0">
                <a:solidFill>
                  <a:srgbClr val="A1A1AA"/>
                </a:solidFill>
                <a:latin typeface="Helvetica Neue"/>
              </a:rPr>
              <a:t>·  Live ingestion scheduling</a:t>
            </a:r>
          </a:p>
        </p:txBody>
      </p:sp>
      <p:sp>
        <p:nvSpPr>
          <p:cNvPr id="16" name="TextBox 15"/>
          <p:cNvSpPr txBox="1"/>
          <p:nvPr/>
        </p:nvSpPr>
        <p:spPr>
          <a:xfrm>
            <a:off x="6537960" y="4187952"/>
            <a:ext cx="4663440" cy="320040"/>
          </a:xfrm>
          <a:prstGeom prst="rect">
            <a:avLst/>
          </a:prstGeom>
          <a:noFill/>
        </p:spPr>
        <p:txBody>
          <a:bodyPr wrap="square" lIns="0" rIns="0" tIns="0" bIns="0">
            <a:spAutoFit/>
          </a:bodyPr>
          <a:lstStyle/>
          <a:p>
            <a:pPr algn="l">
              <a:lnSpc>
                <a:spcPct val="125000"/>
              </a:lnSpc>
            </a:pPr>
            <a:r>
              <a:rPr sz="1150" b="0">
                <a:solidFill>
                  <a:srgbClr val="A1A1AA"/>
                </a:solidFill>
                <a:latin typeface="Helvetica Neue"/>
              </a:rPr>
              <a:t>·  Additional cities, each needing its own calibration</a:t>
            </a:r>
          </a:p>
        </p:txBody>
      </p:sp>
      <p:sp>
        <p:nvSpPr>
          <p:cNvPr id="17" name="TextBox 16"/>
          <p:cNvSpPr txBox="1"/>
          <p:nvPr/>
        </p:nvSpPr>
        <p:spPr>
          <a:xfrm>
            <a:off x="6537960" y="4526280"/>
            <a:ext cx="4663440" cy="320040"/>
          </a:xfrm>
          <a:prstGeom prst="rect">
            <a:avLst/>
          </a:prstGeom>
          <a:noFill/>
        </p:spPr>
        <p:txBody>
          <a:bodyPr wrap="square" lIns="0" rIns="0" tIns="0" bIns="0">
            <a:spAutoFit/>
          </a:bodyPr>
          <a:lstStyle/>
          <a:p>
            <a:pPr algn="l">
              <a:lnSpc>
                <a:spcPct val="125000"/>
              </a:lnSpc>
            </a:pPr>
            <a:r>
              <a:rPr sz="1150" b="0">
                <a:solidFill>
                  <a:srgbClr val="A1A1AA"/>
                </a:solidFill>
                <a:latin typeface="Helvetica Neue"/>
              </a:rPr>
              <a:t>·  Policy-specific integrations</a:t>
            </a:r>
          </a:p>
        </p:txBody>
      </p:sp>
      <p:sp>
        <p:nvSpPr>
          <p:cNvPr id="18" name="Rounded Rectangle 17"/>
          <p:cNvSpPr/>
          <p:nvPr/>
        </p:nvSpPr>
        <p:spPr>
          <a:xfrm>
            <a:off x="777240" y="5074920"/>
            <a:ext cx="10607040" cy="914400"/>
          </a:xfrm>
          <a:prstGeom prst="roundRect">
            <a:avLst>
              <a:gd name="adj" fmla="val 3000"/>
            </a:avLst>
          </a:prstGeom>
          <a:solidFill>
            <a:srgbClr val="111111"/>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51560" y="5285232"/>
            <a:ext cx="10058400" cy="640080"/>
          </a:xfrm>
          <a:prstGeom prst="rect">
            <a:avLst/>
          </a:prstGeom>
          <a:noFill/>
        </p:spPr>
        <p:txBody>
          <a:bodyPr wrap="square" lIns="0" rIns="0" tIns="0" bIns="0">
            <a:spAutoFit/>
          </a:bodyPr>
          <a:lstStyle/>
          <a:p>
            <a:pPr algn="l">
              <a:lnSpc>
                <a:spcPct val="135000"/>
              </a:lnSpc>
            </a:pPr>
            <a:r>
              <a:rPr sz="1300" b="0">
                <a:solidFill>
                  <a:srgbClr val="FFFFFF"/>
                </a:solidFill>
                <a:latin typeface="Helvetica Neue"/>
              </a:rPr>
              <a:t>The architecture ports to another city. The calibration does not — every likelihood ratio is measured against a local natural experiment, so scaling is a data problem, not a config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777240" y="1737360"/>
            <a:ext cx="1097280" cy="25400"/>
          </a:xfrm>
          <a:prstGeom prst="rect">
            <a:avLst/>
          </a:prstGeom>
          <a:solidFill>
            <a:srgbClr val="EAB3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103120"/>
            <a:ext cx="10058400" cy="1828800"/>
          </a:xfrm>
          <a:prstGeom prst="rect">
            <a:avLst/>
          </a:prstGeom>
          <a:noFill/>
        </p:spPr>
        <p:txBody>
          <a:bodyPr wrap="square" lIns="0" rIns="0" tIns="0" bIns="0">
            <a:spAutoFit/>
          </a:bodyPr>
          <a:lstStyle/>
          <a:p>
            <a:pPr algn="l">
              <a:lnSpc>
                <a:spcPct val="135000"/>
              </a:lnSpc>
            </a:pPr>
            <a:r>
              <a:rPr sz="2500" b="1">
                <a:solidFill>
                  <a:srgbClr val="FFFFFF"/>
                </a:solidFill>
                <a:latin typeface="Helvetica Neue"/>
              </a:rPr>
              <a:t>Most systems are designed to always give an answer.</a:t>
            </a:r>
          </a:p>
          <a:p>
            <a:pPr algn="l">
              <a:lnSpc>
                <a:spcPct val="135000"/>
              </a:lnSpc>
            </a:pPr>
            <a:r>
              <a:rPr sz="2500" b="1">
                <a:solidFill>
                  <a:srgbClr val="FFFFFF"/>
                </a:solidFill>
                <a:latin typeface="Helvetica Neue"/>
              </a:rPr>
              <a:t>Vayu Console is designed to give an answer only when the evidence can support one, and to show exactly why.</a:t>
            </a:r>
          </a:p>
        </p:txBody>
      </p:sp>
      <p:sp>
        <p:nvSpPr>
          <p:cNvPr id="4" name="Rectangle 3"/>
          <p:cNvSpPr/>
          <p:nvPr/>
        </p:nvSpPr>
        <p:spPr>
          <a:xfrm>
            <a:off x="777240" y="4297680"/>
            <a:ext cx="10607040" cy="127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0"/>
            <a:ext cx="4572000" cy="548640"/>
          </a:xfrm>
          <a:prstGeom prst="rect">
            <a:avLst/>
          </a:prstGeom>
          <a:noFill/>
        </p:spPr>
        <p:txBody>
          <a:bodyPr wrap="square" lIns="0" rIns="0" tIns="0" bIns="0">
            <a:spAutoFit/>
          </a:bodyPr>
          <a:lstStyle/>
          <a:p>
            <a:pPr algn="l">
              <a:lnSpc>
                <a:spcPct val="125000"/>
              </a:lnSpc>
            </a:pPr>
            <a:r>
              <a:rPr sz="3000" b="1">
                <a:solidFill>
                  <a:srgbClr val="FFFFFF"/>
                </a:solidFill>
                <a:latin typeface="Helvetica Neue"/>
              </a:rPr>
              <a:t>Vayu Console</a:t>
            </a:r>
          </a:p>
        </p:txBody>
      </p:sp>
      <p:sp>
        <p:nvSpPr>
          <p:cNvPr id="6" name="TextBox 5"/>
          <p:cNvSpPr txBox="1"/>
          <p:nvPr/>
        </p:nvSpPr>
        <p:spPr>
          <a:xfrm>
            <a:off x="777240" y="5257800"/>
            <a:ext cx="4572000" cy="731520"/>
          </a:xfrm>
          <a:prstGeom prst="rect">
            <a:avLst/>
          </a:prstGeom>
          <a:noFill/>
        </p:spPr>
        <p:txBody>
          <a:bodyPr wrap="square" lIns="0" rIns="0" tIns="0" bIns="0">
            <a:spAutoFit/>
          </a:bodyPr>
          <a:lstStyle/>
          <a:p>
            <a:pPr algn="l">
              <a:lnSpc>
                <a:spcPct val="150000"/>
              </a:lnSpc>
            </a:pPr>
            <a:r>
              <a:rPr sz="1300" b="0">
                <a:solidFill>
                  <a:srgbClr val="71717A"/>
                </a:solidFill>
                <a:latin typeface="Helvetica Neue"/>
              </a:rPr>
              <a:t>Team: singhpranav431</a:t>
            </a:r>
          </a:p>
          <a:p>
            <a:pPr algn="l">
              <a:lnSpc>
                <a:spcPct val="150000"/>
              </a:lnSpc>
            </a:pPr>
            <a:r>
              <a:rPr sz="1300" b="0">
                <a:solidFill>
                  <a:srgbClr val="71717A"/>
                </a:solidFill>
                <a:latin typeface="Helvetica Neue"/>
              </a:rPr>
              <a:t>ET AI Hackathon 2.0</a:t>
            </a:r>
          </a:p>
        </p:txBody>
      </p:sp>
      <p:sp>
        <p:nvSpPr>
          <p:cNvPr id="7" name="TextBox 6"/>
          <p:cNvSpPr txBox="1"/>
          <p:nvPr/>
        </p:nvSpPr>
        <p:spPr>
          <a:xfrm>
            <a:off x="6263640" y="4617720"/>
            <a:ext cx="5120640" cy="1371600"/>
          </a:xfrm>
          <a:prstGeom prst="rect">
            <a:avLst/>
          </a:prstGeom>
          <a:noFill/>
        </p:spPr>
        <p:txBody>
          <a:bodyPr wrap="square" lIns="0" rIns="0" tIns="0" bIns="0">
            <a:spAutoFit/>
          </a:bodyPr>
          <a:lstStyle/>
          <a:p>
            <a:pPr algn="l">
              <a:lnSpc>
                <a:spcPct val="170000"/>
              </a:lnSpc>
            </a:pPr>
            <a:r>
              <a:rPr sz="1150" b="0">
                <a:solidFill>
                  <a:srgbClr val="A1A1AA"/>
                </a:solidFill>
                <a:latin typeface="Menlo"/>
              </a:rPr>
              <a:t>Console   vayu-console-web.vercel.app/console</a:t>
            </a:r>
          </a:p>
          <a:p>
            <a:pPr algn="l">
              <a:lnSpc>
                <a:spcPct val="170000"/>
              </a:lnSpc>
            </a:pPr>
            <a:r>
              <a:rPr sz="1150" b="0">
                <a:solidFill>
                  <a:srgbClr val="A1A1AA"/>
                </a:solidFill>
                <a:latin typeface="Menlo"/>
              </a:rPr>
              <a:t>API       vayu-console-api.onrender.com</a:t>
            </a:r>
          </a:p>
          <a:p>
            <a:pPr algn="l">
              <a:lnSpc>
                <a:spcPct val="170000"/>
              </a:lnSpc>
            </a:pPr>
            <a:r>
              <a:rPr sz="1150" b="0">
                <a:solidFill>
                  <a:srgbClr val="A1A1AA"/>
                </a:solidFill>
                <a:latin typeface="Menlo"/>
              </a:rPr>
              <a:t>Code      github.com/Pranavsingh431/vayu_console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